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86" r:id="rId7"/>
    <p:sldId id="318" r:id="rId8"/>
    <p:sldId id="319" r:id="rId9"/>
    <p:sldId id="321" r:id="rId10"/>
    <p:sldId id="320" r:id="rId11"/>
    <p:sldId id="307" r:id="rId12"/>
    <p:sldId id="308" r:id="rId13"/>
    <p:sldId id="271" r:id="rId14"/>
    <p:sldId id="272" r:id="rId15"/>
    <p:sldId id="273"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68707B"/>
    <a:srgbClr val="F5F7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7" d="100"/>
          <a:sy n="77" d="100"/>
        </p:scale>
        <p:origin x="48"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solidFill>
              <a:srgbClr val="000000">
                <a:alpha val="100000"/>
              </a:srgbClr>
            </a:solidFill>
            <a:miter lim="800000"/>
          </a:ln>
        </p:spPr>
      </p:sp>
      <p:sp>
        <p:nvSpPr>
          <p:cNvPr id="5123" name="备注占位符 2"/>
          <p:cNvSpPr>
            <a:spLocks noGrp="1"/>
          </p:cNvSpPr>
          <p:nvPr>
            <p:ph type="body" idx="1"/>
          </p:nvPr>
        </p:nvSpPr>
        <p:spPr>
          <a:noFill/>
          <a:ln>
            <a:noFill/>
          </a:ln>
        </p:spPr>
        <p:txBody>
          <a:bodyPr wrap="square" lIns="91440" tIns="45720" rIns="91440" bIns="45720" anchor="t" anchorCtr="0"/>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lvl="0" algn="r" eaLnBrk="1" hangingPunct="1">
              <a:buNone/>
            </a:pPr>
            <a:fld id="{9A0DB2DC-4C9A-4742-B13C-FB6460FD3503}" type="slidenum">
              <a:rPr lang="zh-CN" altLang="en-US" sz="1200" dirty="0">
                <a:ea typeface="等线" panose="02010600030101010101" pitchFamily="2" charset="-122"/>
              </a:rPr>
              <a:t>2</a:t>
            </a:fld>
            <a:endParaRPr lang="zh-CN" altLang="en-US" sz="1200" dirty="0">
              <a:ea typeface="等线"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ln>
            <a:solidFill>
              <a:srgbClr val="000000">
                <a:alpha val="100000"/>
              </a:srgbClr>
            </a:solidFill>
            <a:miter lim="800000"/>
          </a:ln>
        </p:spPr>
      </p:sp>
      <p:sp>
        <p:nvSpPr>
          <p:cNvPr id="14339"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zh-CN" altLang="en-US" dirty="0"/>
              <a:t>这是系统的功能结构图，本系统主要有四大模块。首页数据展示模块、公告管理模块、社圈交流模块、个人服务模块。</a:t>
            </a:r>
          </a:p>
        </p:txBody>
      </p:sp>
      <p:sp>
        <p:nvSpPr>
          <p:cNvPr id="1434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ea typeface="等线" panose="02010600030101010101" pitchFamily="2" charset="-122"/>
              </a:rPr>
              <a:t>6</a:t>
            </a:fld>
            <a:endParaRPr lang="zh-CN" altLang="en-US" sz="1200" dirty="0">
              <a:ea typeface="等线"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ln>
            <a:solidFill>
              <a:srgbClr val="000000">
                <a:alpha val="100000"/>
              </a:srgbClr>
            </a:solidFill>
            <a:miter lim="800000"/>
          </a:ln>
        </p:spPr>
      </p:sp>
      <p:sp>
        <p:nvSpPr>
          <p:cNvPr id="14339"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zh-CN" altLang="en-US" dirty="0"/>
              <a:t>这是系统的功能结构图，本系统主要有四大模块。首页数据展示模块、公告管理模块、社圈交流模块、个人服务模块。</a:t>
            </a:r>
          </a:p>
        </p:txBody>
      </p:sp>
      <p:sp>
        <p:nvSpPr>
          <p:cNvPr id="1434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ea typeface="等线" panose="02010600030101010101" pitchFamily="2" charset="-122"/>
              </a:rPr>
              <a:t>7</a:t>
            </a:fld>
            <a:endParaRPr lang="zh-CN" altLang="en-US" sz="1200" dirty="0">
              <a:ea typeface="等线"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ln>
            <a:solidFill>
              <a:srgbClr val="000000">
                <a:alpha val="100000"/>
              </a:srgbClr>
            </a:solidFill>
            <a:miter lim="800000"/>
          </a:ln>
        </p:spPr>
      </p:sp>
      <p:sp>
        <p:nvSpPr>
          <p:cNvPr id="14339"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zh-CN" altLang="en-US" dirty="0"/>
              <a:t>这是系统的功能结构图，本系统主要有四大模块。首页数据展示模块、公告管理模块、社圈交流模块、个人服务模块。</a:t>
            </a:r>
          </a:p>
        </p:txBody>
      </p:sp>
      <p:sp>
        <p:nvSpPr>
          <p:cNvPr id="1434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ea typeface="等线" panose="02010600030101010101" pitchFamily="2" charset="-122"/>
              </a:rPr>
              <a:t>8</a:t>
            </a:fld>
            <a:endParaRPr lang="zh-CN" altLang="en-US" sz="1200" dirty="0">
              <a:ea typeface="等线"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ln>
            <a:solidFill>
              <a:srgbClr val="000000">
                <a:alpha val="100000"/>
              </a:srgbClr>
            </a:solidFill>
            <a:miter lim="800000"/>
          </a:ln>
        </p:spPr>
      </p:sp>
      <p:sp>
        <p:nvSpPr>
          <p:cNvPr id="14339"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zh-CN" altLang="en-US" dirty="0"/>
              <a:t>这是系统的功能结构图，本系统主要有四大模块。首页数据展示模块、公告管理模块、社圈交流模块、个人服务模块。</a:t>
            </a:r>
          </a:p>
        </p:txBody>
      </p:sp>
      <p:sp>
        <p:nvSpPr>
          <p:cNvPr id="1434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ea typeface="等线" panose="02010600030101010101" pitchFamily="2" charset="-122"/>
              </a:rPr>
              <a:t>9</a:t>
            </a:fld>
            <a:endParaRPr lang="zh-CN" altLang="en-US" sz="1200" dirty="0">
              <a:ea typeface="等线"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ln>
            <a:solidFill>
              <a:srgbClr val="000000">
                <a:alpha val="100000"/>
              </a:srgbClr>
            </a:solidFill>
            <a:miter lim="800000"/>
          </a:ln>
        </p:spPr>
      </p:sp>
      <p:sp>
        <p:nvSpPr>
          <p:cNvPr id="14339"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zh-CN" altLang="en-US" dirty="0"/>
              <a:t>这是系统的功能结构图，本系统主要有四大模块。首页数据展示模块、公告管理模块、社圈交流模块、个人服务模块。</a:t>
            </a:r>
          </a:p>
        </p:txBody>
      </p:sp>
      <p:sp>
        <p:nvSpPr>
          <p:cNvPr id="1434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zh-CN" altLang="en-US" sz="1200" dirty="0">
                <a:ea typeface="等线" panose="02010600030101010101" pitchFamily="2" charset="-122"/>
              </a:rPr>
              <a:t>10</a:t>
            </a:fld>
            <a:endParaRPr lang="zh-CN" altLang="en-US" sz="1200" dirty="0">
              <a:ea typeface="等线"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a:ln>
            <a:solidFill>
              <a:srgbClr val="000000">
                <a:alpha val="100000"/>
              </a:srgbClr>
            </a:solidFill>
            <a:miter lim="800000"/>
          </a:ln>
        </p:spPr>
      </p:sp>
      <p:sp>
        <p:nvSpPr>
          <p:cNvPr id="30723"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lvl="0" algn="r" eaLnBrk="1" hangingPunct="1">
              <a:buNone/>
            </a:pPr>
            <a:fld id="{9A0DB2DC-4C9A-4742-B13C-FB6460FD3503}" type="slidenum">
              <a:rPr lang="zh-CN" altLang="en-US" sz="1200" dirty="0">
                <a:ea typeface="等线" panose="02010600030101010101" pitchFamily="2" charset="-122"/>
              </a:rPr>
              <a:t>13</a:t>
            </a:fld>
            <a:endParaRPr lang="zh-CN" altLang="en-US" sz="1200" dirty="0">
              <a:ea typeface="等线"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ln>
            <a:solidFill>
              <a:srgbClr val="000000">
                <a:alpha val="100000"/>
              </a:srgbClr>
            </a:solidFill>
            <a:miter lim="800000"/>
          </a:ln>
        </p:spPr>
      </p:sp>
      <p:sp>
        <p:nvSpPr>
          <p:cNvPr id="32771" name="备注占位符 2"/>
          <p:cNvSpPr>
            <a:spLocks noGrp="1"/>
          </p:cNvSpPr>
          <p:nvPr>
            <p:ph type="body" idx="1"/>
          </p:nvPr>
        </p:nvSpPr>
        <p:spPr>
          <a:noFill/>
          <a:ln>
            <a:noFill/>
          </a:ln>
        </p:spPr>
        <p:txBody>
          <a:bodyPr wrap="square" lIns="91440" tIns="45720" rIns="91440" bIns="45720" anchor="t" anchorCtr="0"/>
          <a:lstStyle/>
          <a:p>
            <a:pPr lvl="0"/>
            <a:r>
              <a:rPr lang="zh-CN" altLang="en-US" dirty="0"/>
              <a:t>对我来说，最大的收获是在开发时所学到的知识，系统最主要的不足某些功能性能不是最好。</a:t>
            </a:r>
          </a:p>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lvl="0" algn="r" eaLnBrk="1" hangingPunct="1">
              <a:buNone/>
            </a:pPr>
            <a:fld id="{9A0DB2DC-4C9A-4742-B13C-FB6460FD3503}" type="slidenum">
              <a:rPr lang="zh-CN" altLang="en-US" sz="1200" dirty="0">
                <a:ea typeface="等线" panose="02010600030101010101" pitchFamily="2" charset="-122"/>
              </a:rPr>
              <a:t>14</a:t>
            </a:fld>
            <a:endParaRPr lang="zh-CN" altLang="en-US" sz="1200" dirty="0">
              <a:ea typeface="等线"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2025/11/23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2025/11/23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2025/11/23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2025/11/23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2025/11/23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2025/11/23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2025/11/23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notesSlide" Target="../notesSlides/notesSlide1.xml"/><Relationship Id="rId5" Type="http://schemas.openxmlformats.org/officeDocument/2006/relationships/tags" Target="../tags/tag6.xml"/><Relationship Id="rId10" Type="http://schemas.openxmlformats.org/officeDocument/2006/relationships/slideLayout" Target="../slideLayouts/slideLayout7.xml"/><Relationship Id="rId4" Type="http://schemas.openxmlformats.org/officeDocument/2006/relationships/tags" Target="../tags/tag5.xml"/><Relationship Id="rId9" Type="http://schemas.openxmlformats.org/officeDocument/2006/relationships/tags" Target="../tags/tag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2.bin"/><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9"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emf"/></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1287462" y="-1249362"/>
            <a:ext cx="2182813" cy="2182813"/>
          </a:xfrm>
          <a:prstGeom prst="ellipse">
            <a:avLst/>
          </a:prstGeom>
          <a:solidFill>
            <a:srgbClr val="194189"/>
          </a:solidFill>
          <a:ln>
            <a:solidFill>
              <a:srgbClr val="1941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TextBox 23"/>
          <p:cNvSpPr txBox="1">
            <a:spLocks noChangeArrowheads="1"/>
          </p:cNvSpPr>
          <p:nvPr/>
        </p:nvSpPr>
        <p:spPr bwMode="auto">
          <a:xfrm>
            <a:off x="476250" y="3956686"/>
            <a:ext cx="5483225" cy="398780"/>
          </a:xfrm>
          <a:prstGeom prst="rect">
            <a:avLst/>
          </a:prstGeom>
          <a:noFill/>
          <a:ln>
            <a:noFill/>
          </a:ln>
        </p:spPr>
        <p:txBody>
          <a:bodyPr anchor="ctr">
            <a:spAutoFit/>
          </a:bodyPr>
          <a:lstStyle>
            <a:lvl1pPr>
              <a:defRPr sz="1300">
                <a:solidFill>
                  <a:schemeClr val="tx1"/>
                </a:solidFill>
                <a:latin typeface="Nexa Light" pitchFamily="50" charset="0"/>
                <a:ea typeface="微软雅黑" panose="020B0503020204020204" pitchFamily="34" charset="-122"/>
              </a:defRPr>
            </a:lvl1pPr>
            <a:lvl2pPr marL="742950" indent="-285750">
              <a:defRPr sz="1300">
                <a:solidFill>
                  <a:schemeClr val="tx1"/>
                </a:solidFill>
                <a:latin typeface="Nexa Light" pitchFamily="50" charset="0"/>
                <a:ea typeface="微软雅黑" panose="020B0503020204020204" pitchFamily="34" charset="-122"/>
              </a:defRPr>
            </a:lvl2pPr>
            <a:lvl3pPr marL="1143000" indent="-228600">
              <a:defRPr sz="1300">
                <a:solidFill>
                  <a:schemeClr val="tx1"/>
                </a:solidFill>
                <a:latin typeface="Nexa Light" pitchFamily="50" charset="0"/>
                <a:ea typeface="微软雅黑" panose="020B0503020204020204" pitchFamily="34" charset="-122"/>
              </a:defRPr>
            </a:lvl3pPr>
            <a:lvl4pPr marL="1600200" indent="-228600">
              <a:defRPr sz="1300">
                <a:solidFill>
                  <a:schemeClr val="tx1"/>
                </a:solidFill>
                <a:latin typeface="Nexa Light" pitchFamily="50" charset="0"/>
                <a:ea typeface="微软雅黑" panose="020B0503020204020204" pitchFamily="34" charset="-122"/>
              </a:defRPr>
            </a:lvl4pPr>
            <a:lvl5pPr marL="2057400" indent="-228600">
              <a:defRPr sz="1300">
                <a:solidFill>
                  <a:schemeClr val="tx1"/>
                </a:solidFill>
                <a:latin typeface="Nexa Light" pitchFamily="50"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Nexa Light" pitchFamily="50"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Nexa Light" pitchFamily="50"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Nexa Light" pitchFamily="50"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Nexa Light" pitchFamily="50" charset="0"/>
                <a:ea typeface="微软雅黑" panose="020B0503020204020204" pitchFamily="34"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000" b="0" i="0" u="none" strike="noStrike" kern="1200" cap="none" spc="10" normalizeH="0" baseline="0" noProof="0" dirty="0">
              <a:ln>
                <a:noFill/>
              </a:ln>
              <a:solidFill>
                <a:srgbClr val="194189"/>
              </a:soli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426403" y="4800600"/>
            <a:ext cx="5241925" cy="133794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FontTx/>
              <a:buNone/>
            </a:pPr>
            <a:r>
              <a:rPr lang="zh-CN" altLang="en-US" sz="1800" dirty="0">
                <a:solidFill>
                  <a:srgbClr val="194189"/>
                </a:solidFill>
                <a:latin typeface="思源黑体 CN Regular"/>
                <a:ea typeface="思源黑体 CN Regular"/>
              </a:rPr>
              <a:t>姓名：王博扬</a:t>
            </a:r>
            <a:r>
              <a:rPr lang="en-US" altLang="zh-CN" sz="1800" dirty="0">
                <a:solidFill>
                  <a:srgbClr val="194189"/>
                </a:solidFill>
                <a:latin typeface="思源黑体 CN Regular"/>
                <a:ea typeface="思源黑体 CN Regular"/>
              </a:rPr>
              <a:t>  </a:t>
            </a:r>
          </a:p>
          <a:p>
            <a:pPr marL="0" lvl="0" indent="0" eaLnBrk="1" hangingPunct="1">
              <a:lnSpc>
                <a:spcPct val="150000"/>
              </a:lnSpc>
              <a:spcBef>
                <a:spcPct val="0"/>
              </a:spcBef>
              <a:buFontTx/>
              <a:buNone/>
            </a:pPr>
            <a:r>
              <a:rPr lang="zh-CN" altLang="en-US" sz="1800" dirty="0">
                <a:solidFill>
                  <a:srgbClr val="194189"/>
                </a:solidFill>
                <a:latin typeface="思源黑体 CN Regular"/>
                <a:ea typeface="思源黑体 CN Regular"/>
              </a:rPr>
              <a:t>学号：</a:t>
            </a:r>
            <a:r>
              <a:rPr lang="en-US" altLang="zh-CN" sz="1800" dirty="0">
                <a:solidFill>
                  <a:srgbClr val="194189"/>
                </a:solidFill>
                <a:latin typeface="思源黑体 CN Regular"/>
                <a:ea typeface="思源黑体 CN Regular"/>
              </a:rPr>
              <a:t>2024214515</a:t>
            </a:r>
            <a:endParaRPr lang="zh-CN" altLang="en-US" sz="1800" dirty="0">
              <a:solidFill>
                <a:srgbClr val="194189"/>
              </a:solidFill>
              <a:latin typeface="思源黑体 CN Regular"/>
              <a:ea typeface="思源黑体 CN Regular"/>
            </a:endParaRPr>
          </a:p>
          <a:p>
            <a:pPr marL="0" lvl="0" indent="0" eaLnBrk="1" hangingPunct="1">
              <a:lnSpc>
                <a:spcPct val="150000"/>
              </a:lnSpc>
              <a:spcBef>
                <a:spcPct val="0"/>
              </a:spcBef>
              <a:buFontTx/>
              <a:buNone/>
            </a:pPr>
            <a:r>
              <a:rPr lang="zh-CN" altLang="en-US" sz="1800" dirty="0">
                <a:solidFill>
                  <a:srgbClr val="194189"/>
                </a:solidFill>
                <a:latin typeface="思源黑体 CN Regular"/>
                <a:ea typeface="思源黑体 CN Regular"/>
              </a:rPr>
              <a:t>指导老师：秋哥 沈子捷 全蕾</a:t>
            </a:r>
            <a:endParaRPr lang="en-US" altLang="zh-CN" sz="1800" dirty="0">
              <a:solidFill>
                <a:srgbClr val="194189"/>
              </a:solidFill>
              <a:latin typeface="思源黑体 CN Regular"/>
              <a:ea typeface="思源黑体 CN Regular"/>
            </a:endParaRPr>
          </a:p>
        </p:txBody>
      </p:sp>
      <p:graphicFrame>
        <p:nvGraphicFramePr>
          <p:cNvPr id="3078" name="对象 2"/>
          <p:cNvGraphicFramePr>
            <a:graphicFrameLocks noChangeAspect="1"/>
          </p:cNvGraphicFramePr>
          <p:nvPr/>
        </p:nvGraphicFramePr>
        <p:xfrm>
          <a:off x="476250" y="588963"/>
          <a:ext cx="5278438" cy="1389062"/>
        </p:xfrm>
        <a:graphic>
          <a:graphicData uri="http://schemas.openxmlformats.org/presentationml/2006/ole">
            <mc:AlternateContent xmlns:mc="http://schemas.openxmlformats.org/markup-compatibility/2006">
              <mc:Choice xmlns:v="urn:schemas-microsoft-com:vml" Requires="v">
                <p:oleObj r:id="rId2" imgW="5050790" imgH="1258570" progId="Word.Document.8">
                  <p:embed/>
                </p:oleObj>
              </mc:Choice>
              <mc:Fallback>
                <p:oleObj r:id="rId2" imgW="5050790" imgH="1258570" progId="Word.Document.8">
                  <p:embed/>
                  <p:pic>
                    <p:nvPicPr>
                      <p:cNvPr id="0" name="图片 3075"/>
                      <p:cNvPicPr/>
                      <p:nvPr/>
                    </p:nvPicPr>
                    <p:blipFill>
                      <a:blip r:embed="rId3"/>
                      <a:stretch>
                        <a:fillRect/>
                      </a:stretch>
                    </p:blipFill>
                    <p:spPr>
                      <a:xfrm>
                        <a:off x="476250" y="588963"/>
                        <a:ext cx="5278438" cy="1389062"/>
                      </a:xfrm>
                      <a:prstGeom prst="rect">
                        <a:avLst/>
                      </a:prstGeom>
                      <a:noFill/>
                      <a:ln w="38100">
                        <a:noFill/>
                        <a:miter/>
                      </a:ln>
                    </p:spPr>
                  </p:pic>
                </p:oleObj>
              </mc:Fallback>
            </mc:AlternateContent>
          </a:graphicData>
        </a:graphic>
      </p:graphicFrame>
      <p:grpSp>
        <p:nvGrpSpPr>
          <p:cNvPr id="3079" name="组合 16"/>
          <p:cNvGrpSpPr/>
          <p:nvPr/>
        </p:nvGrpSpPr>
        <p:grpSpPr>
          <a:xfrm>
            <a:off x="6699250" y="-1614487"/>
            <a:ext cx="9451975" cy="10183812"/>
            <a:chOff x="6348003" y="-1764575"/>
            <a:chExt cx="9452066" cy="10183586"/>
          </a:xfrm>
        </p:grpSpPr>
        <p:sp>
          <p:nvSpPr>
            <p:cNvPr id="18" name="椭圆 17"/>
            <p:cNvSpPr/>
            <p:nvPr/>
          </p:nvSpPr>
          <p:spPr>
            <a:xfrm>
              <a:off x="6348003" y="-1764575"/>
              <a:ext cx="9452066" cy="9451765"/>
            </a:xfrm>
            <a:prstGeom prst="ellipse">
              <a:avLst/>
            </a:prstGeom>
            <a:noFill/>
            <a:ln w="12700">
              <a:solidFill>
                <a:srgbClr val="1941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 name="椭圆 18"/>
            <p:cNvSpPr/>
            <p:nvPr/>
          </p:nvSpPr>
          <p:spPr>
            <a:xfrm>
              <a:off x="6348003" y="-1032753"/>
              <a:ext cx="9452066" cy="9451764"/>
            </a:xfrm>
            <a:prstGeom prst="ellipse">
              <a:avLst/>
            </a:prstGeom>
            <a:noFill/>
            <a:ln w="12700">
              <a:solidFill>
                <a:srgbClr val="1941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pic>
        <p:nvPicPr>
          <p:cNvPr id="20" name="图片 19" descr="实验楼"/>
          <p:cNvPicPr>
            <a:picLocks noChangeAspect="1"/>
          </p:cNvPicPr>
          <p:nvPr/>
        </p:nvPicPr>
        <p:blipFill>
          <a:blip r:embed="rId4"/>
          <a:srcRect l="730" t="1545" r="2084" b="1850"/>
          <a:stretch>
            <a:fillRect/>
          </a:stretch>
        </p:blipFill>
        <p:spPr>
          <a:xfrm>
            <a:off x="7219315" y="-645795"/>
            <a:ext cx="8202930" cy="8258175"/>
          </a:xfrm>
          <a:prstGeom prst="ellipse">
            <a:avLst/>
          </a:prstGeom>
        </p:spPr>
      </p:pic>
    </p:spTree>
  </p:cSld>
  <p:clrMapOvr>
    <a:masterClrMapping/>
  </p:clrMapOvr>
  <p:transition spd="med" advClick="0" advTm="2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38530" y="587375"/>
            <a:ext cx="10394950" cy="5683250"/>
          </a:xfrm>
          <a:prstGeom prst="rect">
            <a:avLst/>
          </a:prstGeom>
          <a:solidFill>
            <a:schemeClr val="bg2"/>
          </a:solidFill>
          <a:ln>
            <a:noFill/>
          </a:ln>
          <a:effectLst>
            <a:outerShdw blurRad="431800" sx="102000" sy="102000" algn="ct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 name="椭圆 2"/>
          <p:cNvSpPr/>
          <p:nvPr/>
        </p:nvSpPr>
        <p:spPr>
          <a:xfrm>
            <a:off x="-703262" y="-1014412"/>
            <a:ext cx="2679700" cy="2679700"/>
          </a:xfrm>
          <a:prstGeom prst="ellipse">
            <a:avLst/>
          </a:prstGeom>
          <a:solidFill>
            <a:srgbClr val="19418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椭圆 5"/>
          <p:cNvSpPr/>
          <p:nvPr/>
        </p:nvSpPr>
        <p:spPr>
          <a:xfrm>
            <a:off x="10247313" y="5089525"/>
            <a:ext cx="2679700" cy="2679700"/>
          </a:xfrm>
          <a:prstGeom prst="ellipse">
            <a:avLst/>
          </a:prstGeom>
          <a:solidFill>
            <a:srgbClr val="19418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文本框 6"/>
          <p:cNvSpPr txBox="1"/>
          <p:nvPr/>
        </p:nvSpPr>
        <p:spPr>
          <a:xfrm>
            <a:off x="4875213" y="1184275"/>
            <a:ext cx="2520950" cy="1138238"/>
          </a:xfrm>
          <a:prstGeom prst="rect">
            <a:avLst/>
          </a:prstGeom>
          <a:noFill/>
        </p:spPr>
        <p:txBody>
          <a:bodyPr>
            <a:spAutoFit/>
          </a:bodyPr>
          <a:lstStyle/>
          <a:p>
            <a:pPr marR="0" algn="ctr" defTabSz="914400" eaLnBrk="1" fontAlgn="auto" hangingPunct="1">
              <a:spcBef>
                <a:spcPts val="0"/>
              </a:spcBef>
              <a:spcAft>
                <a:spcPts val="0"/>
              </a:spcAft>
              <a:buClrTx/>
              <a:buSzTx/>
              <a:buFontTx/>
              <a:buNone/>
              <a:defRPr/>
            </a:pPr>
            <a:r>
              <a:rPr kumimoji="0" lang="zh-CN" altLang="en-US" sz="4400" kern="1200" cap="none" spc="600" normalizeH="0" baseline="0" noProof="0">
                <a:solidFill>
                  <a:srgbClr val="194189"/>
                </a:solidFill>
                <a:latin typeface="+mj-ea"/>
                <a:ea typeface="+mj-ea"/>
                <a:cs typeface="+mn-cs"/>
              </a:rPr>
              <a:t>目 录</a:t>
            </a:r>
            <a:endParaRPr kumimoji="0" lang="en-US" altLang="zh-CN" sz="4400" kern="1200" cap="none" spc="600" normalizeH="0" baseline="0" noProof="0" dirty="0">
              <a:solidFill>
                <a:srgbClr val="194189"/>
              </a:solidFill>
              <a:latin typeface="+mj-ea"/>
              <a:ea typeface="+mj-ea"/>
              <a:cs typeface="+mn-cs"/>
            </a:endParaRPr>
          </a:p>
          <a:p>
            <a:pPr marR="0" algn="ctr" defTabSz="914400" eaLnBrk="1" fontAlgn="auto" hangingPunct="1">
              <a:spcBef>
                <a:spcPts val="0"/>
              </a:spcBef>
              <a:spcAft>
                <a:spcPts val="0"/>
              </a:spcAft>
              <a:buClrTx/>
              <a:buSzTx/>
              <a:buFontTx/>
              <a:buNone/>
              <a:defRPr/>
            </a:pPr>
            <a:r>
              <a:rPr kumimoji="0" lang="en-US" altLang="zh-CN" sz="2400" kern="1200" cap="none" spc="600" normalizeH="0" baseline="0" noProof="0" dirty="0">
                <a:solidFill>
                  <a:srgbClr val="194189"/>
                </a:solidFill>
                <a:latin typeface="+mj-ea"/>
                <a:ea typeface="+mj-ea"/>
                <a:cs typeface="+mn-cs"/>
              </a:rPr>
              <a:t>CONTENTS</a:t>
            </a:r>
          </a:p>
        </p:txBody>
      </p:sp>
      <p:grpSp>
        <p:nvGrpSpPr>
          <p:cNvPr id="4102" name="组合 17"/>
          <p:cNvGrpSpPr/>
          <p:nvPr>
            <p:custDataLst>
              <p:tags r:id="rId1"/>
            </p:custDataLst>
          </p:nvPr>
        </p:nvGrpSpPr>
        <p:grpSpPr>
          <a:xfrm>
            <a:off x="4649788" y="2904173"/>
            <a:ext cx="3392170" cy="431800"/>
            <a:chOff x="3113301" y="1940304"/>
            <a:chExt cx="3391145" cy="430887"/>
          </a:xfrm>
        </p:grpSpPr>
        <p:sp>
          <p:nvSpPr>
            <p:cNvPr id="4109" name="TextBox 59"/>
            <p:cNvSpPr txBox="1"/>
            <p:nvPr>
              <p:custDataLst>
                <p:tags r:id="rId8"/>
              </p:custDataLst>
            </p:nvPr>
          </p:nvSpPr>
          <p:spPr>
            <a:xfrm>
              <a:off x="3582424" y="1940304"/>
              <a:ext cx="2922022" cy="428986"/>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200" dirty="0">
                  <a:solidFill>
                    <a:srgbClr val="194189"/>
                  </a:solidFill>
                  <a:latin typeface="思源黑体 CN Regular"/>
                  <a:ea typeface="思源黑体 CN Regular"/>
                </a:rPr>
                <a:t>课程设计任务与要求</a:t>
              </a:r>
            </a:p>
          </p:txBody>
        </p:sp>
        <p:sp>
          <p:nvSpPr>
            <p:cNvPr id="4110" name="TextBox 59"/>
            <p:cNvSpPr txBox="1"/>
            <p:nvPr>
              <p:custDataLst>
                <p:tags r:id="rId9"/>
              </p:custDataLst>
            </p:nvPr>
          </p:nvSpPr>
          <p:spPr>
            <a:xfrm>
              <a:off x="3113301" y="1940304"/>
              <a:ext cx="547688" cy="4308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en-US" altLang="zh-CN" sz="2200" dirty="0">
                  <a:solidFill>
                    <a:srgbClr val="194189"/>
                  </a:solidFill>
                  <a:latin typeface="思源黑体 CN Regular"/>
                  <a:ea typeface="思源黑体 CN Regular"/>
                </a:rPr>
                <a:t>01</a:t>
              </a:r>
            </a:p>
          </p:txBody>
        </p:sp>
      </p:grpSp>
      <p:grpSp>
        <p:nvGrpSpPr>
          <p:cNvPr id="4103" name="组合 18"/>
          <p:cNvGrpSpPr/>
          <p:nvPr>
            <p:custDataLst>
              <p:tags r:id="rId2"/>
            </p:custDataLst>
          </p:nvPr>
        </p:nvGrpSpPr>
        <p:grpSpPr>
          <a:xfrm>
            <a:off x="4649788" y="3761423"/>
            <a:ext cx="3251200" cy="435820"/>
            <a:chOff x="3113301" y="2840718"/>
            <a:chExt cx="3251767" cy="435069"/>
          </a:xfrm>
        </p:grpSpPr>
        <p:sp>
          <p:nvSpPr>
            <p:cNvPr id="4107" name="TextBox 59"/>
            <p:cNvSpPr txBox="1"/>
            <p:nvPr>
              <p:custDataLst>
                <p:tags r:id="rId6"/>
              </p:custDataLst>
            </p:nvPr>
          </p:nvSpPr>
          <p:spPr>
            <a:xfrm>
              <a:off x="3589549" y="2846633"/>
              <a:ext cx="2775519" cy="429154"/>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200" dirty="0">
                  <a:solidFill>
                    <a:srgbClr val="194189"/>
                  </a:solidFill>
                  <a:latin typeface="思源黑体 CN Regular"/>
                  <a:ea typeface="思源黑体 CN Regular"/>
                </a:rPr>
                <a:t>课程设计方案及算法</a:t>
              </a:r>
            </a:p>
          </p:txBody>
        </p:sp>
        <p:sp>
          <p:nvSpPr>
            <p:cNvPr id="4108" name="TextBox 59"/>
            <p:cNvSpPr txBox="1"/>
            <p:nvPr>
              <p:custDataLst>
                <p:tags r:id="rId7"/>
              </p:custDataLst>
            </p:nvPr>
          </p:nvSpPr>
          <p:spPr>
            <a:xfrm>
              <a:off x="3113301" y="2840718"/>
              <a:ext cx="547688" cy="4308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en-US" altLang="zh-CN" sz="2200" dirty="0">
                  <a:solidFill>
                    <a:srgbClr val="194189"/>
                  </a:solidFill>
                  <a:latin typeface="思源黑体 CN Regular"/>
                  <a:ea typeface="思源黑体 CN Regular"/>
                </a:rPr>
                <a:t>02</a:t>
              </a:r>
            </a:p>
          </p:txBody>
        </p:sp>
      </p:grpSp>
      <p:grpSp>
        <p:nvGrpSpPr>
          <p:cNvPr id="4104" name="组合 20"/>
          <p:cNvGrpSpPr/>
          <p:nvPr>
            <p:custDataLst>
              <p:tags r:id="rId3"/>
            </p:custDataLst>
          </p:nvPr>
        </p:nvGrpSpPr>
        <p:grpSpPr>
          <a:xfrm>
            <a:off x="4649788" y="4618355"/>
            <a:ext cx="3290570" cy="444500"/>
            <a:chOff x="3113301" y="4677527"/>
            <a:chExt cx="3291592" cy="445477"/>
          </a:xfrm>
        </p:grpSpPr>
        <p:sp>
          <p:nvSpPr>
            <p:cNvPr id="4105" name="TextBox 59"/>
            <p:cNvSpPr txBox="1"/>
            <p:nvPr>
              <p:custDataLst>
                <p:tags r:id="rId4"/>
              </p:custDataLst>
            </p:nvPr>
          </p:nvSpPr>
          <p:spPr>
            <a:xfrm>
              <a:off x="3589699" y="4677527"/>
              <a:ext cx="2815194" cy="43084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2200" dirty="0">
                  <a:solidFill>
                    <a:srgbClr val="194189"/>
                  </a:solidFill>
                  <a:latin typeface="思源黑体 CN Regular"/>
                  <a:ea typeface="思源黑体 CN Regular"/>
                </a:rPr>
                <a:t>课程设计简短的总结</a:t>
              </a:r>
            </a:p>
          </p:txBody>
        </p:sp>
        <p:sp>
          <p:nvSpPr>
            <p:cNvPr id="4106" name="TextBox 59"/>
            <p:cNvSpPr txBox="1"/>
            <p:nvPr>
              <p:custDataLst>
                <p:tags r:id="rId5"/>
              </p:custDataLst>
            </p:nvPr>
          </p:nvSpPr>
          <p:spPr>
            <a:xfrm>
              <a:off x="3113301" y="4692117"/>
              <a:ext cx="547688" cy="4308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en-US" altLang="zh-CN" sz="2200" dirty="0">
                  <a:solidFill>
                    <a:srgbClr val="194189"/>
                  </a:solidFill>
                  <a:latin typeface="思源黑体 CN Regular"/>
                  <a:ea typeface="思源黑体 CN Regular"/>
                </a:rPr>
                <a:t>03</a:t>
              </a:r>
            </a:p>
          </p:txBody>
        </p:sp>
      </p:grpSp>
    </p:spTree>
  </p:cSld>
  <p:clrMapOvr>
    <a:masterClrMapping/>
  </p:clrMapOvr>
  <p:transition spd="slow" advClick="0" advTm="2000">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3043237" y="-830262"/>
            <a:ext cx="8516938" cy="8516938"/>
          </a:xfrm>
          <a:prstGeom prst="ellipse">
            <a:avLst/>
          </a:prstGeom>
          <a:solidFill>
            <a:srgbClr val="1941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椭圆 2"/>
          <p:cNvSpPr/>
          <p:nvPr/>
        </p:nvSpPr>
        <p:spPr>
          <a:xfrm>
            <a:off x="-3416300" y="-1201737"/>
            <a:ext cx="9263063" cy="9261475"/>
          </a:xfrm>
          <a:prstGeom prst="ellipse">
            <a:avLst/>
          </a:prstGeom>
          <a:noFill/>
          <a:ln>
            <a:solidFill>
              <a:srgbClr val="1941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文本框 3"/>
          <p:cNvSpPr txBox="1"/>
          <p:nvPr/>
        </p:nvSpPr>
        <p:spPr>
          <a:xfrm>
            <a:off x="692150" y="2921000"/>
            <a:ext cx="4968875" cy="1016000"/>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zh-CN" sz="6000" kern="1200" cap="none" spc="300" normalizeH="0" baseline="0" noProof="0" dirty="0">
                <a:solidFill>
                  <a:schemeClr val="bg2"/>
                </a:solidFill>
                <a:latin typeface="+mn-lt"/>
                <a:ea typeface="+mn-ea"/>
                <a:cs typeface="+mn-cs"/>
              </a:rPr>
              <a:t>PART ONE</a:t>
            </a:r>
            <a:endParaRPr kumimoji="0" lang="zh-CN" altLang="en-US" sz="6000" kern="1200" cap="none" spc="300" normalizeH="0" baseline="0" noProof="0" dirty="0">
              <a:solidFill>
                <a:schemeClr val="bg2"/>
              </a:solidFill>
              <a:latin typeface="+mn-lt"/>
              <a:ea typeface="+mn-ea"/>
              <a:cs typeface="+mn-cs"/>
            </a:endParaRPr>
          </a:p>
        </p:txBody>
      </p:sp>
      <p:cxnSp>
        <p:nvCxnSpPr>
          <p:cNvPr id="5" name="直接连接符 4"/>
          <p:cNvCxnSpPr/>
          <p:nvPr/>
        </p:nvCxnSpPr>
        <p:spPr>
          <a:xfrm flipH="1">
            <a:off x="854075" y="4149725"/>
            <a:ext cx="2697163" cy="0"/>
          </a:xfrm>
          <a:prstGeom prst="line">
            <a:avLst/>
          </a:prstGeom>
          <a:ln w="12700">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a:off x="854075" y="4430713"/>
            <a:ext cx="1549400" cy="0"/>
          </a:xfrm>
          <a:prstGeom prst="line">
            <a:avLst/>
          </a:prstGeom>
          <a:ln w="12700">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sp>
        <p:nvSpPr>
          <p:cNvPr id="7" name="等腰三角形 6"/>
          <p:cNvSpPr/>
          <p:nvPr/>
        </p:nvSpPr>
        <p:spPr>
          <a:xfrm rot="5400000" flipH="1">
            <a:off x="4952206" y="3331369"/>
            <a:ext cx="231775" cy="201613"/>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3" name="组合 32"/>
          <p:cNvGrpSpPr/>
          <p:nvPr/>
        </p:nvGrpSpPr>
        <p:grpSpPr>
          <a:xfrm>
            <a:off x="6548665" y="3724095"/>
            <a:ext cx="172819" cy="172819"/>
            <a:chOff x="4971660" y="1569718"/>
            <a:chExt cx="144016" cy="144016"/>
          </a:xfrm>
          <a:solidFill>
            <a:srgbClr val="194189"/>
          </a:solidFill>
        </p:grpSpPr>
        <p:sp>
          <p:nvSpPr>
            <p:cNvPr id="34" name="椭圆 33"/>
            <p:cNvSpPr/>
            <p:nvPr/>
          </p:nvSpPr>
          <p:spPr>
            <a:xfrm>
              <a:off x="4971660" y="1569718"/>
              <a:ext cx="144016" cy="14401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615" b="0" i="0" u="none" strike="noStrike" kern="1200" cap="none" spc="0" normalizeH="0" baseline="0" noProof="0">
                <a:ln>
                  <a:noFill/>
                </a:ln>
                <a:solidFill>
                  <a:schemeClr val="lt1"/>
                </a:solidFill>
                <a:effectLst/>
                <a:uLnTx/>
                <a:uFillTx/>
                <a:latin typeface="+mn-lt"/>
                <a:ea typeface="+mn-ea"/>
                <a:cs typeface="+mn-cs"/>
              </a:endParaRPr>
            </a:p>
          </p:txBody>
        </p:sp>
        <p:sp>
          <p:nvSpPr>
            <p:cNvPr id="35" name="椭圆 34"/>
            <p:cNvSpPr/>
            <p:nvPr/>
          </p:nvSpPr>
          <p:spPr>
            <a:xfrm>
              <a:off x="5005748" y="1603806"/>
              <a:ext cx="75840" cy="758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615" b="0" i="0" u="none" strike="noStrike" kern="1200" cap="none" spc="0" normalizeH="0" baseline="0" noProof="0">
                <a:ln>
                  <a:noFill/>
                </a:ln>
                <a:solidFill>
                  <a:schemeClr val="lt1"/>
                </a:solidFill>
                <a:effectLst/>
                <a:uLnTx/>
                <a:uFillTx/>
                <a:latin typeface="+mn-lt"/>
                <a:ea typeface="+mn-ea"/>
                <a:cs typeface="+mn-cs"/>
              </a:endParaRPr>
            </a:p>
          </p:txBody>
        </p:sp>
      </p:grpSp>
      <p:sp>
        <p:nvSpPr>
          <p:cNvPr id="42" name="TextBox 41"/>
          <p:cNvSpPr txBox="1"/>
          <p:nvPr/>
        </p:nvSpPr>
        <p:spPr>
          <a:xfrm>
            <a:off x="7121525" y="3662363"/>
            <a:ext cx="2246313" cy="294640"/>
          </a:xfrm>
          <a:prstGeom prst="rect">
            <a:avLst/>
          </a:prstGeom>
          <a:noFill/>
        </p:spPr>
        <p:txBody>
          <a:bodyPr lIns="0" tIns="0" rIns="0" bIns="0">
            <a:spAutoFit/>
          </a:bodyPr>
          <a:lstStyle/>
          <a:p>
            <a:pPr marR="0" defTabSz="914400" eaLnBrk="1" fontAlgn="auto" hangingPunct="1">
              <a:spcBef>
                <a:spcPts val="0"/>
              </a:spcBef>
              <a:spcAft>
                <a:spcPts val="0"/>
              </a:spcAft>
              <a:buClrTx/>
              <a:buSzTx/>
              <a:buFontTx/>
              <a:buNone/>
              <a:defRPr/>
            </a:pPr>
            <a:r>
              <a:rPr lang="zh-CN" altLang="en-US" sz="1920" dirty="0">
                <a:solidFill>
                  <a:schemeClr val="tx1"/>
                </a:solidFill>
                <a:latin typeface="思源黑体 CN Regular"/>
                <a:ea typeface="思源黑体 CN Regular"/>
                <a:sym typeface="+mn-ea"/>
              </a:rPr>
              <a:t>课程设计任务与要求</a:t>
            </a:r>
            <a:endParaRPr kumimoji="0" lang="zh-CN" altLang="en-US" sz="1920" kern="1200" cap="none" spc="0" normalizeH="0" baseline="0" noProof="0" dirty="0">
              <a:solidFill>
                <a:schemeClr val="tx1"/>
              </a:solidFill>
              <a:latin typeface="思源黑体 CN Regular"/>
              <a:ea typeface="思源黑体 CN Regular"/>
              <a:cs typeface="+mn-cs"/>
              <a:sym typeface="+mn-ea"/>
            </a:endParaRPr>
          </a:p>
        </p:txBody>
      </p:sp>
      <p:sp>
        <p:nvSpPr>
          <p:cNvPr id="15" name="TextBox 59"/>
          <p:cNvSpPr txBox="1">
            <a:spLocks noChangeArrowheads="1"/>
          </p:cNvSpPr>
          <p:nvPr/>
        </p:nvSpPr>
        <p:spPr bwMode="auto">
          <a:xfrm>
            <a:off x="6310313" y="1303338"/>
            <a:ext cx="5468938" cy="922020"/>
          </a:xfrm>
          <a:prstGeom prst="rect">
            <a:avLst/>
          </a:prstGeom>
          <a:noFill/>
          <a:ln>
            <a:noFill/>
          </a:ln>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5400" b="0" i="0" u="none" strike="noStrike" kern="1200" cap="none" spc="300" normalizeH="0" baseline="0" noProof="0" dirty="0">
                <a:ln>
                  <a:noFill/>
                </a:ln>
                <a:solidFill>
                  <a:srgbClr val="194189"/>
                </a:solidFill>
                <a:effectLst/>
                <a:uLnTx/>
                <a:uFillTx/>
                <a:latin typeface="思源黑体 CN Regular" panose="020B0500000000000000" pitchFamily="34" charset="-122"/>
                <a:ea typeface="思源黑体 CN Regular" panose="020B0500000000000000" pitchFamily="34" charset="-122"/>
                <a:cs typeface="+mn-cs"/>
              </a:rPr>
              <a:t>任务与要求</a:t>
            </a:r>
          </a:p>
        </p:txBody>
      </p:sp>
    </p:spTree>
  </p:cSld>
  <p:clrMapOvr>
    <a:masterClrMapping/>
  </p:clrMapOvr>
  <p:transition spd="slow" advClick="0" advTm="2000">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5087"/>
            <a:ext cx="12192000" cy="954088"/>
          </a:xfrm>
          <a:prstGeom prst="rect">
            <a:avLst/>
          </a:prstGeom>
          <a:solidFill>
            <a:srgbClr val="1941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7" name="TextBox 59"/>
          <p:cNvSpPr txBox="1">
            <a:spLocks noChangeArrowheads="1"/>
          </p:cNvSpPr>
          <p:nvPr/>
        </p:nvSpPr>
        <p:spPr bwMode="auto">
          <a:xfrm>
            <a:off x="400050" y="190500"/>
            <a:ext cx="3470275" cy="460375"/>
          </a:xfrm>
          <a:prstGeom prst="rect">
            <a:avLst/>
          </a:prstGeom>
          <a:noFill/>
          <a:ln>
            <a:noFill/>
          </a:ln>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lang="zh-CN" altLang="en-US" sz="2400" dirty="0">
                <a:solidFill>
                  <a:schemeClr val="bg1"/>
                </a:solidFill>
                <a:latin typeface="思源黑体 CN Regular"/>
                <a:ea typeface="思源黑体 CN Regular"/>
                <a:sym typeface="+mn-ea"/>
              </a:rPr>
              <a:t>课程设计任务与要求</a:t>
            </a:r>
            <a:endParaRPr kumimoji="0" lang="zh-CN" altLang="en-US" sz="2400" b="0" i="0" u="none" strike="noStrike" kern="1200" cap="none" spc="300" normalizeH="0" baseline="0" noProof="0" dirty="0">
              <a:ln>
                <a:noFill/>
              </a:ln>
              <a:solidFill>
                <a:schemeClr val="bg1"/>
              </a:solidFill>
              <a:effectLst/>
              <a:uLnTx/>
              <a:uFillTx/>
              <a:latin typeface="思源黑体 CN Regular"/>
              <a:ea typeface="思源黑体 CN Regular"/>
              <a:cs typeface="+mn-cs"/>
              <a:sym typeface="+mn-ea"/>
            </a:endParaRPr>
          </a:p>
        </p:txBody>
      </p:sp>
      <p:graphicFrame>
        <p:nvGraphicFramePr>
          <p:cNvPr id="7172" name="对象 15"/>
          <p:cNvGraphicFramePr>
            <a:graphicFrameLocks noChangeAspect="1"/>
          </p:cNvGraphicFramePr>
          <p:nvPr/>
        </p:nvGraphicFramePr>
        <p:xfrm>
          <a:off x="9539288" y="6043613"/>
          <a:ext cx="2368550" cy="623887"/>
        </p:xfrm>
        <a:graphic>
          <a:graphicData uri="http://schemas.openxmlformats.org/presentationml/2006/ole">
            <mc:AlternateContent xmlns:mc="http://schemas.openxmlformats.org/markup-compatibility/2006">
              <mc:Choice xmlns:v="urn:schemas-microsoft-com:vml" Requires="v">
                <p:oleObj r:id="rId2" imgW="5050790" imgH="1258570" progId="Word.Document.8">
                  <p:embed/>
                </p:oleObj>
              </mc:Choice>
              <mc:Fallback>
                <p:oleObj r:id="rId2" imgW="5050790" imgH="1258570" progId="Word.Document.8">
                  <p:embed/>
                  <p:pic>
                    <p:nvPicPr>
                      <p:cNvPr id="0" name="图片 3078"/>
                      <p:cNvPicPr/>
                      <p:nvPr/>
                    </p:nvPicPr>
                    <p:blipFill>
                      <a:blip r:embed="rId3"/>
                      <a:stretch>
                        <a:fillRect/>
                      </a:stretch>
                    </p:blipFill>
                    <p:spPr>
                      <a:xfrm>
                        <a:off x="9539288" y="6043613"/>
                        <a:ext cx="2368550" cy="623887"/>
                      </a:xfrm>
                      <a:prstGeom prst="rect">
                        <a:avLst/>
                      </a:prstGeom>
                      <a:noFill/>
                      <a:ln w="38100">
                        <a:noFill/>
                        <a:miter/>
                      </a:ln>
                    </p:spPr>
                  </p:pic>
                </p:oleObj>
              </mc:Fallback>
            </mc:AlternateContent>
          </a:graphicData>
        </a:graphic>
      </p:graphicFrame>
      <p:sp>
        <p:nvSpPr>
          <p:cNvPr id="7173" name="文本框 106"/>
          <p:cNvSpPr txBox="1"/>
          <p:nvPr/>
        </p:nvSpPr>
        <p:spPr>
          <a:xfrm>
            <a:off x="584627" y="1144587"/>
            <a:ext cx="8847455" cy="3282369"/>
          </a:xfrm>
          <a:prstGeom prst="rect">
            <a:avLst/>
          </a:prstGeom>
          <a:noFill/>
          <a:ln w="9525">
            <a:noFill/>
          </a:ln>
        </p:spPr>
        <p:txBody>
          <a:bodyPr>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457200" eaLnBrk="1" hangingPunct="1">
              <a:lnSpc>
                <a:spcPct val="150000"/>
              </a:lnSpc>
              <a:spcBef>
                <a:spcPct val="0"/>
              </a:spcBef>
              <a:buFontTx/>
              <a:buNone/>
            </a:pPr>
            <a:r>
              <a:rPr lang="zh-CN" altLang="en-US" sz="1600" dirty="0">
                <a:solidFill>
                  <a:schemeClr val="tx1"/>
                </a:solidFill>
              </a:rPr>
              <a:t>在汽车导航系统中，高精度定位是关键技术，根据北斗高精度定位技术绘制出了江西省内各城市路线图，如图</a:t>
            </a:r>
            <a:r>
              <a:rPr lang="en-US" altLang="zh-CN" sz="1600" dirty="0">
                <a:solidFill>
                  <a:schemeClr val="tx1"/>
                </a:solidFill>
              </a:rPr>
              <a:t>6-7</a:t>
            </a:r>
            <a:r>
              <a:rPr lang="zh-CN" altLang="en-US" sz="1600" dirty="0">
                <a:solidFill>
                  <a:schemeClr val="tx1"/>
                </a:solidFill>
              </a:rPr>
              <a:t>所示。其中圆圈中是城市名，连线及连线上的数字表示两个城市之间的公路及路程模拟数值。</a:t>
            </a:r>
          </a:p>
          <a:p>
            <a:pPr marL="0" lvl="0" indent="457200" eaLnBrk="1" hangingPunct="1">
              <a:lnSpc>
                <a:spcPct val="150000"/>
              </a:lnSpc>
              <a:spcBef>
                <a:spcPct val="0"/>
              </a:spcBef>
              <a:buFontTx/>
              <a:buNone/>
            </a:pPr>
            <a:r>
              <a:rPr lang="zh-CN" altLang="en-US" sz="1600" dirty="0">
                <a:solidFill>
                  <a:schemeClr val="tx1"/>
                </a:solidFill>
              </a:rPr>
              <a:t>根据对系统分析，主要实现以下三个操作：</a:t>
            </a:r>
          </a:p>
          <a:p>
            <a:pPr marL="0" lvl="0" indent="457200" eaLnBrk="1" hangingPunct="1">
              <a:lnSpc>
                <a:spcPct val="150000"/>
              </a:lnSpc>
              <a:spcBef>
                <a:spcPct val="0"/>
              </a:spcBef>
              <a:buFontTx/>
              <a:buNone/>
            </a:pPr>
            <a:r>
              <a:rPr lang="zh-CN" altLang="en-US" sz="1600" dirty="0">
                <a:solidFill>
                  <a:schemeClr val="tx1"/>
                </a:solidFill>
              </a:rPr>
              <a:t>（</a:t>
            </a:r>
            <a:r>
              <a:rPr lang="en-US" altLang="zh-CN" sz="1600" dirty="0">
                <a:solidFill>
                  <a:schemeClr val="tx1"/>
                </a:solidFill>
              </a:rPr>
              <a:t>1</a:t>
            </a:r>
            <a:r>
              <a:rPr lang="zh-CN" altLang="en-US" sz="1600" dirty="0">
                <a:solidFill>
                  <a:schemeClr val="tx1"/>
                </a:solidFill>
              </a:rPr>
              <a:t>）实现顶点的查找操作；</a:t>
            </a:r>
          </a:p>
          <a:p>
            <a:pPr marL="0" lvl="0" indent="457200" eaLnBrk="1" hangingPunct="1">
              <a:lnSpc>
                <a:spcPct val="150000"/>
              </a:lnSpc>
              <a:spcBef>
                <a:spcPct val="0"/>
              </a:spcBef>
              <a:buFontTx/>
              <a:buNone/>
            </a:pPr>
            <a:r>
              <a:rPr lang="zh-CN" altLang="en-US" sz="1600" dirty="0">
                <a:solidFill>
                  <a:schemeClr val="tx1"/>
                </a:solidFill>
              </a:rPr>
              <a:t>（</a:t>
            </a:r>
            <a:r>
              <a:rPr lang="en-US" altLang="zh-CN" sz="1600" dirty="0">
                <a:solidFill>
                  <a:schemeClr val="tx1"/>
                </a:solidFill>
              </a:rPr>
              <a:t>2</a:t>
            </a:r>
            <a:r>
              <a:rPr lang="zh-CN" altLang="en-US" sz="1600" dirty="0">
                <a:solidFill>
                  <a:schemeClr val="tx1"/>
                </a:solidFill>
              </a:rPr>
              <a:t>）实现创建图操作；</a:t>
            </a:r>
          </a:p>
          <a:p>
            <a:pPr marL="0" lvl="0" indent="457200" eaLnBrk="1" hangingPunct="1">
              <a:lnSpc>
                <a:spcPct val="150000"/>
              </a:lnSpc>
              <a:spcBef>
                <a:spcPct val="0"/>
              </a:spcBef>
              <a:buFontTx/>
              <a:buNone/>
            </a:pPr>
            <a:r>
              <a:rPr lang="zh-CN" altLang="en-US" sz="1600" dirty="0">
                <a:solidFill>
                  <a:schemeClr val="tx1"/>
                </a:solidFill>
              </a:rPr>
              <a:t>（</a:t>
            </a:r>
            <a:r>
              <a:rPr lang="en-US" altLang="zh-CN" sz="1600" dirty="0">
                <a:solidFill>
                  <a:schemeClr val="tx1"/>
                </a:solidFill>
              </a:rPr>
              <a:t>3</a:t>
            </a:r>
            <a:r>
              <a:rPr lang="zh-CN" altLang="en-US" sz="1600" dirty="0">
                <a:solidFill>
                  <a:schemeClr val="tx1"/>
                </a:solidFill>
              </a:rPr>
              <a:t>）实现计算某顶点到其余各顶点的最短路径操作。</a:t>
            </a:r>
          </a:p>
          <a:p>
            <a:pPr marL="0" lvl="0" indent="457200" eaLnBrk="1" hangingPunct="1">
              <a:lnSpc>
                <a:spcPct val="150000"/>
              </a:lnSpc>
              <a:spcBef>
                <a:spcPct val="0"/>
              </a:spcBef>
              <a:buFontTx/>
              <a:buNone/>
            </a:pPr>
            <a:r>
              <a:rPr lang="en-US" altLang="zh-CN" sz="1600" dirty="0">
                <a:solidFill>
                  <a:schemeClr val="tx1"/>
                </a:solidFill>
              </a:rPr>
              <a:t>	</a:t>
            </a:r>
          </a:p>
        </p:txBody>
      </p:sp>
      <p:pic>
        <p:nvPicPr>
          <p:cNvPr id="1026" name="图片 5">
            <a:extLst>
              <a:ext uri="{FF2B5EF4-FFF2-40B4-BE49-F238E27FC236}">
                <a16:creationId xmlns:a16="http://schemas.microsoft.com/office/drawing/2014/main" id="{0D2D48E5-7D7C-BE71-3040-495F2794AA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7685" y="2241879"/>
            <a:ext cx="4244975"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2000">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组合 8"/>
          <p:cNvGrpSpPr/>
          <p:nvPr/>
        </p:nvGrpSpPr>
        <p:grpSpPr>
          <a:xfrm>
            <a:off x="-3414712" y="-1201737"/>
            <a:ext cx="9261475" cy="9261475"/>
            <a:chOff x="-3415386" y="-1202003"/>
            <a:chExt cx="9262006" cy="9262006"/>
          </a:xfrm>
        </p:grpSpPr>
        <p:sp>
          <p:nvSpPr>
            <p:cNvPr id="2" name="椭圆 1"/>
            <p:cNvSpPr/>
            <p:nvPr/>
          </p:nvSpPr>
          <p:spPr>
            <a:xfrm>
              <a:off x="-3042302" y="-828919"/>
              <a:ext cx="8515837" cy="8515837"/>
            </a:xfrm>
            <a:prstGeom prst="ellipse">
              <a:avLst/>
            </a:prstGeom>
            <a:solidFill>
              <a:srgbClr val="194189"/>
            </a:solidFill>
            <a:ln>
              <a:solidFill>
                <a:srgbClr val="1941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椭圆 2"/>
            <p:cNvSpPr/>
            <p:nvPr/>
          </p:nvSpPr>
          <p:spPr>
            <a:xfrm>
              <a:off x="-3415386" y="-1202003"/>
              <a:ext cx="9262006" cy="9262006"/>
            </a:xfrm>
            <a:prstGeom prst="ellipse">
              <a:avLst/>
            </a:prstGeom>
            <a:noFill/>
            <a:ln>
              <a:solidFill>
                <a:srgbClr val="1941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文本框 3"/>
            <p:cNvSpPr txBox="1"/>
            <p:nvPr/>
          </p:nvSpPr>
          <p:spPr>
            <a:xfrm>
              <a:off x="199559" y="2920971"/>
              <a:ext cx="4969159" cy="1016058"/>
            </a:xfrm>
            <a:prstGeom prst="rect">
              <a:avLst/>
            </a:prstGeom>
            <a:noFill/>
            <a:ln>
              <a:solidFill>
                <a:srgbClr val="194189"/>
              </a:solidFill>
            </a:ln>
          </p:spPr>
          <p:txBody>
            <a:bodyPr>
              <a:spAutoFit/>
            </a:bodyPr>
            <a:lstStyle/>
            <a:p>
              <a:pPr marR="0" defTabSz="914400" eaLnBrk="1" fontAlgn="auto" hangingPunct="1">
                <a:spcBef>
                  <a:spcPts val="0"/>
                </a:spcBef>
                <a:spcAft>
                  <a:spcPts val="0"/>
                </a:spcAft>
                <a:buClrTx/>
                <a:buSzTx/>
                <a:buFontTx/>
                <a:buNone/>
                <a:defRPr/>
              </a:pPr>
              <a:r>
                <a:rPr kumimoji="0" lang="en-US" altLang="zh-CN" sz="6000" kern="1200" cap="none" spc="300" normalizeH="0" baseline="0" noProof="0" dirty="0">
                  <a:solidFill>
                    <a:schemeClr val="bg2"/>
                  </a:solidFill>
                  <a:latin typeface="+mn-lt"/>
                  <a:ea typeface="+mn-ea"/>
                  <a:cs typeface="+mn-cs"/>
                </a:rPr>
                <a:t>PART TWO</a:t>
              </a:r>
              <a:endParaRPr kumimoji="0" lang="zh-CN" altLang="en-US" sz="6000" kern="1200" cap="none" spc="300" normalizeH="0" baseline="0" noProof="0" dirty="0">
                <a:solidFill>
                  <a:schemeClr val="bg2"/>
                </a:solidFill>
                <a:latin typeface="+mn-lt"/>
                <a:ea typeface="+mn-ea"/>
                <a:cs typeface="+mn-cs"/>
              </a:endParaRPr>
            </a:p>
          </p:txBody>
        </p:sp>
        <p:cxnSp>
          <p:nvCxnSpPr>
            <p:cNvPr id="5" name="直接连接符 4"/>
            <p:cNvCxnSpPr/>
            <p:nvPr/>
          </p:nvCxnSpPr>
          <p:spPr>
            <a:xfrm flipH="1">
              <a:off x="359906" y="4149766"/>
              <a:ext cx="2697316" cy="0"/>
            </a:xfrm>
            <a:prstGeom prst="line">
              <a:avLst/>
            </a:prstGeom>
            <a:ln w="12700">
              <a:solidFill>
                <a:srgbClr val="194189">
                  <a:alpha val="40000"/>
                </a:srgb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a:off x="359906" y="4430770"/>
              <a:ext cx="1547901" cy="0"/>
            </a:xfrm>
            <a:prstGeom prst="line">
              <a:avLst/>
            </a:prstGeom>
            <a:ln w="12700">
              <a:solidFill>
                <a:srgbClr val="194189">
                  <a:alpha val="40000"/>
                </a:srgbClr>
              </a:solidFill>
            </a:ln>
          </p:spPr>
          <p:style>
            <a:lnRef idx="1">
              <a:schemeClr val="accent1"/>
            </a:lnRef>
            <a:fillRef idx="0">
              <a:schemeClr val="accent1"/>
            </a:fillRef>
            <a:effectRef idx="0">
              <a:schemeClr val="accent1"/>
            </a:effectRef>
            <a:fontRef idx="minor">
              <a:schemeClr val="tx1"/>
            </a:fontRef>
          </p:style>
        </p:cxnSp>
        <p:sp>
          <p:nvSpPr>
            <p:cNvPr id="7" name="等腰三角形 6"/>
            <p:cNvSpPr/>
            <p:nvPr/>
          </p:nvSpPr>
          <p:spPr>
            <a:xfrm rot="5400000" flipH="1">
              <a:off x="4951220" y="3332157"/>
              <a:ext cx="233375" cy="201624"/>
            </a:xfrm>
            <a:prstGeom prst="triangle">
              <a:avLst/>
            </a:prstGeom>
            <a:solidFill>
              <a:schemeClr val="bg2"/>
            </a:solidFill>
            <a:ln>
              <a:solidFill>
                <a:srgbClr val="1941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8" name="TextBox 59"/>
          <p:cNvSpPr txBox="1">
            <a:spLocks noChangeArrowheads="1"/>
          </p:cNvSpPr>
          <p:nvPr/>
        </p:nvSpPr>
        <p:spPr bwMode="auto">
          <a:xfrm>
            <a:off x="6096000" y="1009650"/>
            <a:ext cx="5815330" cy="829945"/>
          </a:xfrm>
          <a:prstGeom prst="rect">
            <a:avLst/>
          </a:prstGeom>
          <a:noFill/>
          <a:ln>
            <a:noFill/>
          </a:ln>
        </p:spPr>
        <p:txBody>
          <a:bodyPr wrap="square">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lang="zh-CN" altLang="en-US" sz="4800" dirty="0">
                <a:solidFill>
                  <a:srgbClr val="194189"/>
                </a:solidFill>
                <a:latin typeface="思源黑体 CN Regular"/>
                <a:ea typeface="思源黑体 CN Regular"/>
                <a:sym typeface="+mn-ea"/>
              </a:rPr>
              <a:t>课程设计主体的方案</a:t>
            </a:r>
          </a:p>
        </p:txBody>
      </p:sp>
      <p:grpSp>
        <p:nvGrpSpPr>
          <p:cNvPr id="30" name="组合 29"/>
          <p:cNvGrpSpPr/>
          <p:nvPr>
            <p:custDataLst>
              <p:tags r:id="rId1"/>
            </p:custDataLst>
          </p:nvPr>
        </p:nvGrpSpPr>
        <p:grpSpPr>
          <a:xfrm>
            <a:off x="6590170" y="3193870"/>
            <a:ext cx="172819" cy="172819"/>
            <a:chOff x="4971660" y="1569718"/>
            <a:chExt cx="144016" cy="144016"/>
          </a:xfrm>
          <a:solidFill>
            <a:srgbClr val="194189"/>
          </a:solidFill>
        </p:grpSpPr>
        <p:sp>
          <p:nvSpPr>
            <p:cNvPr id="31" name="椭圆 30"/>
            <p:cNvSpPr/>
            <p:nvPr>
              <p:custDataLst>
                <p:tags r:id="rId7"/>
              </p:custDataLst>
            </p:nvPr>
          </p:nvSpPr>
          <p:spPr>
            <a:xfrm>
              <a:off x="4971660" y="1569718"/>
              <a:ext cx="144016" cy="14401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615" b="0" i="0" u="none" strike="noStrike" kern="1200" cap="none" spc="0" normalizeH="0" baseline="0" noProof="0">
                <a:ln>
                  <a:noFill/>
                </a:ln>
                <a:solidFill>
                  <a:schemeClr val="lt1"/>
                </a:solidFill>
                <a:effectLst/>
                <a:uLnTx/>
                <a:uFillTx/>
                <a:latin typeface="+mn-lt"/>
                <a:ea typeface="+mn-ea"/>
                <a:cs typeface="+mn-cs"/>
              </a:endParaRPr>
            </a:p>
          </p:txBody>
        </p:sp>
        <p:sp>
          <p:nvSpPr>
            <p:cNvPr id="32" name="椭圆 31"/>
            <p:cNvSpPr/>
            <p:nvPr>
              <p:custDataLst>
                <p:tags r:id="rId8"/>
              </p:custDataLst>
            </p:nvPr>
          </p:nvSpPr>
          <p:spPr>
            <a:xfrm>
              <a:off x="5005748" y="1603806"/>
              <a:ext cx="75840" cy="758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615" b="0" i="0" u="none" strike="noStrike" kern="1200" cap="none" spc="0" normalizeH="0" baseline="0" noProof="0">
                <a:ln>
                  <a:noFill/>
                </a:ln>
                <a:solidFill>
                  <a:schemeClr val="lt1"/>
                </a:solidFill>
                <a:effectLst/>
                <a:uLnTx/>
                <a:uFillTx/>
                <a:latin typeface="+mn-lt"/>
                <a:ea typeface="+mn-ea"/>
                <a:cs typeface="+mn-cs"/>
              </a:endParaRPr>
            </a:p>
          </p:txBody>
        </p:sp>
      </p:grpSp>
      <p:grpSp>
        <p:nvGrpSpPr>
          <p:cNvPr id="36" name="组合 35"/>
          <p:cNvGrpSpPr/>
          <p:nvPr>
            <p:custDataLst>
              <p:tags r:id="rId2"/>
            </p:custDataLst>
          </p:nvPr>
        </p:nvGrpSpPr>
        <p:grpSpPr>
          <a:xfrm>
            <a:off x="6590170" y="3916818"/>
            <a:ext cx="172819" cy="172819"/>
            <a:chOff x="4971660" y="1569718"/>
            <a:chExt cx="144016" cy="144016"/>
          </a:xfrm>
          <a:solidFill>
            <a:srgbClr val="194189"/>
          </a:solidFill>
        </p:grpSpPr>
        <p:sp>
          <p:nvSpPr>
            <p:cNvPr id="40" name="椭圆 39"/>
            <p:cNvSpPr/>
            <p:nvPr>
              <p:custDataLst>
                <p:tags r:id="rId5"/>
              </p:custDataLst>
            </p:nvPr>
          </p:nvSpPr>
          <p:spPr>
            <a:xfrm>
              <a:off x="4971660" y="1569718"/>
              <a:ext cx="144016" cy="14401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615" b="0" i="0" u="none" strike="noStrike" kern="1200" cap="none" spc="0" normalizeH="0" baseline="0" noProof="0">
                <a:ln>
                  <a:noFill/>
                </a:ln>
                <a:solidFill>
                  <a:schemeClr val="lt1"/>
                </a:solidFill>
                <a:effectLst/>
                <a:uLnTx/>
                <a:uFillTx/>
                <a:latin typeface="+mn-lt"/>
                <a:ea typeface="+mn-ea"/>
                <a:cs typeface="+mn-cs"/>
              </a:endParaRPr>
            </a:p>
          </p:txBody>
        </p:sp>
        <p:sp>
          <p:nvSpPr>
            <p:cNvPr id="41" name="椭圆 40"/>
            <p:cNvSpPr/>
            <p:nvPr>
              <p:custDataLst>
                <p:tags r:id="rId6"/>
              </p:custDataLst>
            </p:nvPr>
          </p:nvSpPr>
          <p:spPr>
            <a:xfrm>
              <a:off x="5005748" y="1603806"/>
              <a:ext cx="75840" cy="758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615" b="0" i="0" u="none" strike="noStrike" kern="1200" cap="none" spc="0" normalizeH="0" baseline="0" noProof="0">
                <a:ln>
                  <a:noFill/>
                </a:ln>
                <a:solidFill>
                  <a:schemeClr val="lt1"/>
                </a:solidFill>
                <a:effectLst/>
                <a:uLnTx/>
                <a:uFillTx/>
                <a:latin typeface="+mn-lt"/>
                <a:ea typeface="+mn-ea"/>
                <a:cs typeface="+mn-cs"/>
              </a:endParaRPr>
            </a:p>
          </p:txBody>
        </p:sp>
      </p:grpSp>
      <p:sp>
        <p:nvSpPr>
          <p:cNvPr id="44" name="TextBox 41"/>
          <p:cNvSpPr txBox="1"/>
          <p:nvPr>
            <p:custDataLst>
              <p:tags r:id="rId3"/>
            </p:custDataLst>
          </p:nvPr>
        </p:nvSpPr>
        <p:spPr>
          <a:xfrm>
            <a:off x="7162800" y="3132455"/>
            <a:ext cx="2728595" cy="294640"/>
          </a:xfrm>
          <a:prstGeom prst="rect">
            <a:avLst/>
          </a:prstGeom>
          <a:noFill/>
        </p:spPr>
        <p:txBody>
          <a:bodyPr wrap="square" lIns="0" tIns="0" rIns="0" bIns="0">
            <a:spAutoFit/>
          </a:bodyPr>
          <a:lstStyle/>
          <a:p>
            <a:pPr marR="0" defTabSz="914400" eaLnBrk="1" fontAlgn="auto" hangingPunct="1">
              <a:spcBef>
                <a:spcPts val="0"/>
              </a:spcBef>
              <a:spcAft>
                <a:spcPts val="0"/>
              </a:spcAft>
              <a:buClrTx/>
              <a:buSzTx/>
              <a:buFontTx/>
              <a:buNone/>
              <a:defRPr/>
            </a:pPr>
            <a:r>
              <a:rPr kumimoji="0" lang="zh-CN" altLang="en-US" sz="1920" kern="1200" cap="none" spc="0" normalizeH="0" baseline="0" noProof="0" dirty="0">
                <a:solidFill>
                  <a:schemeClr val="tx2"/>
                </a:solidFill>
                <a:latin typeface="思源黑体 CN Light" panose="020B0300000000000000" pitchFamily="34" charset="-122"/>
                <a:ea typeface="思源黑体 CN Light" panose="020B0300000000000000" pitchFamily="34" charset="-122"/>
                <a:cs typeface="+mn-cs"/>
              </a:rPr>
              <a:t>课程设计的方案</a:t>
            </a:r>
          </a:p>
        </p:txBody>
      </p:sp>
      <p:sp>
        <p:nvSpPr>
          <p:cNvPr id="45" name="TextBox 42"/>
          <p:cNvSpPr txBox="1"/>
          <p:nvPr>
            <p:custDataLst>
              <p:tags r:id="rId4"/>
            </p:custDataLst>
          </p:nvPr>
        </p:nvSpPr>
        <p:spPr>
          <a:xfrm>
            <a:off x="7162800" y="3856355"/>
            <a:ext cx="2582545" cy="294640"/>
          </a:xfrm>
          <a:prstGeom prst="rect">
            <a:avLst/>
          </a:prstGeom>
          <a:noFill/>
        </p:spPr>
        <p:txBody>
          <a:bodyPr wrap="square" lIns="0" tIns="0" rIns="0" bIns="0">
            <a:spAutoFit/>
          </a:bodyPr>
          <a:lstStyle/>
          <a:p>
            <a:pPr marR="0" defTabSz="914400" eaLnBrk="1" fontAlgn="auto" hangingPunct="1">
              <a:spcBef>
                <a:spcPts val="0"/>
              </a:spcBef>
              <a:spcAft>
                <a:spcPts val="0"/>
              </a:spcAft>
              <a:buClrTx/>
              <a:buSzTx/>
              <a:buFontTx/>
              <a:buNone/>
              <a:defRPr/>
            </a:pPr>
            <a:r>
              <a:rPr lang="zh-CN" altLang="en-US" sz="1920" noProof="0" dirty="0">
                <a:solidFill>
                  <a:schemeClr val="tx2"/>
                </a:solidFill>
                <a:latin typeface="思源黑体 CN Light" panose="020B0300000000000000" pitchFamily="34" charset="-122"/>
                <a:ea typeface="思源黑体 CN Light" panose="020B0300000000000000" pitchFamily="34" charset="-122"/>
                <a:sym typeface="+mn-ea"/>
              </a:rPr>
              <a:t>课程设计实现方法</a:t>
            </a:r>
          </a:p>
        </p:txBody>
      </p:sp>
    </p:spTree>
  </p:cSld>
  <p:clrMapOvr>
    <a:masterClrMapping/>
  </p:clrMapOvr>
  <p:transition spd="slow" advClick="0" advTm="2000">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5087"/>
            <a:ext cx="12192000" cy="954088"/>
          </a:xfrm>
          <a:prstGeom prst="rect">
            <a:avLst/>
          </a:prstGeom>
          <a:solidFill>
            <a:srgbClr val="1941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7" name="TextBox 59"/>
          <p:cNvSpPr txBox="1">
            <a:spLocks noChangeArrowheads="1"/>
          </p:cNvSpPr>
          <p:nvPr/>
        </p:nvSpPr>
        <p:spPr bwMode="auto">
          <a:xfrm>
            <a:off x="400050" y="187325"/>
            <a:ext cx="4510088" cy="460375"/>
          </a:xfrm>
          <a:prstGeom prst="rect">
            <a:avLst/>
          </a:prstGeom>
          <a:noFill/>
          <a:ln>
            <a:noFill/>
          </a:ln>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0" i="0" u="none" strike="noStrike" kern="1200" cap="none" spc="300" normalizeH="0" baseline="0" noProof="0" dirty="0">
                <a:ln>
                  <a:noFill/>
                </a:ln>
                <a:solidFill>
                  <a:schemeClr val="bg1"/>
                </a:solidFill>
                <a:effectLst/>
                <a:uLnTx/>
                <a:uFillTx/>
                <a:latin typeface="思源黑体 CN Light" panose="020B0300000000000000" pitchFamily="34" charset="-122"/>
                <a:ea typeface="思源黑体 CN Light" panose="020B0300000000000000" pitchFamily="34" charset="-122"/>
                <a:cs typeface="+mn-cs"/>
                <a:sym typeface="+mn-ea"/>
              </a:rPr>
              <a:t>课程设计方案</a:t>
            </a:r>
          </a:p>
        </p:txBody>
      </p:sp>
      <p:graphicFrame>
        <p:nvGraphicFramePr>
          <p:cNvPr id="13316" name="对象 15"/>
          <p:cNvGraphicFramePr>
            <a:graphicFrameLocks noChangeAspect="1"/>
          </p:cNvGraphicFramePr>
          <p:nvPr/>
        </p:nvGraphicFramePr>
        <p:xfrm>
          <a:off x="9486265" y="6053614"/>
          <a:ext cx="2474595" cy="692785"/>
        </p:xfrm>
        <a:graphic>
          <a:graphicData uri="http://schemas.openxmlformats.org/presentationml/2006/ole">
            <mc:AlternateContent xmlns:mc="http://schemas.openxmlformats.org/markup-compatibility/2006">
              <mc:Choice xmlns:v="urn:schemas-microsoft-com:vml" Requires="v">
                <p:oleObj r:id="rId3" imgW="5276850" imgH="1397000" progId="Word.Document.8">
                  <p:embed/>
                </p:oleObj>
              </mc:Choice>
              <mc:Fallback>
                <p:oleObj r:id="rId3" imgW="5276850" imgH="1397000" progId="Word.Document.8">
                  <p:embed/>
                  <p:pic>
                    <p:nvPicPr>
                      <p:cNvPr id="0" name="图片 3083"/>
                      <p:cNvPicPr/>
                      <p:nvPr/>
                    </p:nvPicPr>
                    <p:blipFill>
                      <a:blip r:embed="rId4"/>
                      <a:stretch>
                        <a:fillRect/>
                      </a:stretch>
                    </p:blipFill>
                    <p:spPr>
                      <a:xfrm>
                        <a:off x="9486265" y="6053614"/>
                        <a:ext cx="2474595" cy="692785"/>
                      </a:xfrm>
                      <a:prstGeom prst="rect">
                        <a:avLst/>
                      </a:prstGeom>
                      <a:noFill/>
                      <a:ln w="38100">
                        <a:noFill/>
                        <a:miter/>
                      </a:ln>
                    </p:spPr>
                  </p:pic>
                </p:oleObj>
              </mc:Fallback>
            </mc:AlternateContent>
          </a:graphicData>
        </a:graphic>
      </p:graphicFrame>
      <p:sp>
        <p:nvSpPr>
          <p:cNvPr id="5" name="文本框 4"/>
          <p:cNvSpPr txBox="1"/>
          <p:nvPr/>
        </p:nvSpPr>
        <p:spPr>
          <a:xfrm>
            <a:off x="231140" y="900112"/>
            <a:ext cx="11367135" cy="5553594"/>
          </a:xfrm>
          <a:prstGeom prst="rect">
            <a:avLst/>
          </a:prstGeom>
          <a:noFill/>
        </p:spPr>
        <p:txBody>
          <a:bodyPr wrap="square" rtlCol="0">
            <a:noAutofit/>
          </a:bodyPr>
          <a:lstStyle/>
          <a:p>
            <a:r>
              <a:rPr lang="en-US" altLang="zh-CN" b="1" dirty="0"/>
              <a:t>1. </a:t>
            </a:r>
            <a:r>
              <a:rPr lang="zh-CN" altLang="en-US" b="1" dirty="0"/>
              <a:t>需求分析</a:t>
            </a:r>
          </a:p>
          <a:p>
            <a:r>
              <a:rPr lang="zh-CN" altLang="en-US" dirty="0"/>
              <a:t>北斗卫星导航系统在汽车导航中的应用要求实现高精度定位和路径规划。具体到本课程设计，主要需求包括：</a:t>
            </a:r>
          </a:p>
          <a:p>
            <a:r>
              <a:rPr lang="zh-CN" altLang="en-US" b="1" dirty="0"/>
              <a:t>顶点查找</a:t>
            </a:r>
            <a:r>
              <a:rPr lang="zh-CN" altLang="en-US" dirty="0"/>
              <a:t>：能够根据城市名称快速找到对应的顶点位置。</a:t>
            </a:r>
          </a:p>
          <a:p>
            <a:r>
              <a:rPr lang="zh-CN" altLang="en-US" b="1" dirty="0"/>
              <a:t>图的创建</a:t>
            </a:r>
            <a:r>
              <a:rPr lang="zh-CN" altLang="en-US" dirty="0"/>
              <a:t>：根据给定的城市和道路信息，构建一个无向网（带权图）。</a:t>
            </a:r>
          </a:p>
          <a:p>
            <a:r>
              <a:rPr lang="zh-CN" altLang="en-US" b="1" dirty="0"/>
              <a:t>最短路径计算</a:t>
            </a:r>
            <a:r>
              <a:rPr lang="zh-CN" altLang="en-US" dirty="0"/>
              <a:t>：实现从一个城市到另一个城市的最短路径计算。</a:t>
            </a:r>
          </a:p>
          <a:p>
            <a:endParaRPr lang="en-US" altLang="zh-CN" sz="2800" dirty="0">
              <a:latin typeface="宋体" panose="02010600030101010101" pitchFamily="2" charset="-122"/>
              <a:ea typeface="宋体" panose="02010600030101010101" pitchFamily="2" charset="-122"/>
              <a:cs typeface="宋体" panose="02010600030101010101" pitchFamily="2" charset="-122"/>
            </a:endParaRPr>
          </a:p>
          <a:p>
            <a:r>
              <a:rPr lang="en-US" altLang="zh-CN" b="1" dirty="0"/>
              <a:t>2. </a:t>
            </a:r>
            <a:r>
              <a:rPr lang="zh-CN" altLang="en-US" b="1" dirty="0"/>
              <a:t>数据结构设计</a:t>
            </a:r>
          </a:p>
          <a:p>
            <a:r>
              <a:rPr lang="zh-CN" altLang="en-US" dirty="0"/>
              <a:t>根据需求，选择合适的数据结构来存储和操作数据。这里采用 </a:t>
            </a:r>
            <a:r>
              <a:rPr lang="zh-CN" altLang="en-US" b="1" dirty="0"/>
              <a:t>邻接矩阵</a:t>
            </a:r>
            <a:r>
              <a:rPr lang="zh-CN" altLang="en-US" dirty="0"/>
              <a:t> 来表示无向网：</a:t>
            </a:r>
          </a:p>
          <a:p>
            <a:pPr fontAlgn="ctr"/>
            <a:r>
              <a:rPr lang="en-US" altLang="zh-CN" dirty="0"/>
              <a:t>c</a:t>
            </a:r>
          </a:p>
          <a:p>
            <a:pPr fontAlgn="ctr"/>
            <a:r>
              <a:rPr lang="zh-CN" altLang="en-US" dirty="0"/>
              <a:t>编辑</a:t>
            </a:r>
          </a:p>
          <a:p>
            <a:r>
              <a:rPr lang="en-US" altLang="zh-CN" dirty="0"/>
              <a:t>typedef</a:t>
            </a:r>
            <a:r>
              <a:rPr lang="zh-CN" altLang="en-US" dirty="0"/>
              <a:t> </a:t>
            </a:r>
            <a:r>
              <a:rPr lang="en-US" altLang="zh-CN" dirty="0"/>
              <a:t>struct</a:t>
            </a:r>
            <a:endParaRPr lang="zh-CN" altLang="en-US" dirty="0"/>
          </a:p>
          <a:p>
            <a:r>
              <a:rPr lang="en-US" altLang="zh-CN" dirty="0"/>
              <a:t>{</a:t>
            </a:r>
          </a:p>
          <a:p>
            <a:r>
              <a:rPr lang="en-US" altLang="zh-CN" dirty="0"/>
              <a:t>    char</a:t>
            </a:r>
            <a:r>
              <a:rPr lang="zh-CN" altLang="en-US" dirty="0"/>
              <a:t> </a:t>
            </a:r>
            <a:r>
              <a:rPr lang="en-US" altLang="zh-CN" dirty="0" err="1"/>
              <a:t>vexs</a:t>
            </a:r>
            <a:r>
              <a:rPr lang="en-US" altLang="zh-CN" dirty="0"/>
              <a:t>[11][MAX];         </a:t>
            </a:r>
            <a:r>
              <a:rPr lang="en-US" altLang="zh-CN" i="1" dirty="0"/>
              <a:t>// </a:t>
            </a:r>
            <a:r>
              <a:rPr lang="zh-CN" altLang="en-US" i="1" dirty="0"/>
              <a:t>城市名称数组（顶点数组）</a:t>
            </a:r>
            <a:endParaRPr lang="zh-CN" altLang="en-US" dirty="0"/>
          </a:p>
          <a:p>
            <a:r>
              <a:rPr lang="zh-CN" altLang="en-US" dirty="0"/>
              <a:t>    </a:t>
            </a:r>
            <a:r>
              <a:rPr lang="en-US" altLang="zh-CN" dirty="0"/>
              <a:t>int</a:t>
            </a:r>
            <a:r>
              <a:rPr lang="zh-CN" altLang="en-US" dirty="0"/>
              <a:t> </a:t>
            </a:r>
            <a:r>
              <a:rPr lang="en-US" altLang="zh-CN" dirty="0"/>
              <a:t>arcs[MAXSIZE][MAXSIZE]; </a:t>
            </a:r>
            <a:r>
              <a:rPr lang="en-US" altLang="zh-CN" i="1" dirty="0"/>
              <a:t>// </a:t>
            </a:r>
            <a:r>
              <a:rPr lang="zh-CN" altLang="en-US" i="1" dirty="0"/>
              <a:t>邻接矩阵（存储边的权重）</a:t>
            </a:r>
            <a:endParaRPr lang="zh-CN" altLang="en-US" dirty="0"/>
          </a:p>
          <a:p>
            <a:r>
              <a:rPr lang="zh-CN" altLang="en-US" dirty="0"/>
              <a:t>    </a:t>
            </a:r>
            <a:r>
              <a:rPr lang="en-US" altLang="zh-CN" dirty="0"/>
              <a:t>int</a:t>
            </a:r>
            <a:r>
              <a:rPr lang="zh-CN" altLang="en-US" dirty="0"/>
              <a:t> </a:t>
            </a:r>
            <a:r>
              <a:rPr lang="en-US" altLang="zh-CN" dirty="0" err="1"/>
              <a:t>vexnum</a:t>
            </a:r>
            <a:r>
              <a:rPr lang="en-US" altLang="zh-CN" dirty="0"/>
              <a:t>, </a:t>
            </a:r>
            <a:r>
              <a:rPr lang="en-US" altLang="zh-CN" dirty="0" err="1"/>
              <a:t>arcnum</a:t>
            </a:r>
            <a:r>
              <a:rPr lang="en-US" altLang="zh-CN" dirty="0"/>
              <a:t>;         </a:t>
            </a:r>
            <a:r>
              <a:rPr lang="en-US" altLang="zh-CN" i="1" dirty="0"/>
              <a:t>// </a:t>
            </a:r>
            <a:r>
              <a:rPr lang="zh-CN" altLang="en-US" i="1" dirty="0"/>
              <a:t>顶点数和边数</a:t>
            </a:r>
            <a:endParaRPr lang="zh-CN" altLang="en-US" dirty="0"/>
          </a:p>
          <a:p>
            <a:r>
              <a:rPr lang="en-US" altLang="zh-CN" dirty="0"/>
              <a:t>} </a:t>
            </a:r>
            <a:r>
              <a:rPr lang="en-US" altLang="zh-CN" dirty="0" err="1"/>
              <a:t>AMGraph</a:t>
            </a:r>
            <a:r>
              <a:rPr lang="en-US" altLang="zh-CN" dirty="0"/>
              <a:t>;</a:t>
            </a:r>
          </a:p>
          <a:p>
            <a:r>
              <a:rPr lang="en-US" altLang="zh-CN" b="1" dirty="0" err="1"/>
              <a:t>vexs</a:t>
            </a:r>
            <a:r>
              <a:rPr lang="zh-CN" altLang="en-US" dirty="0"/>
              <a:t>：存储城市名称。</a:t>
            </a:r>
          </a:p>
          <a:p>
            <a:r>
              <a:rPr lang="en-US" altLang="zh-CN" b="1" dirty="0"/>
              <a:t>arcs</a:t>
            </a:r>
            <a:r>
              <a:rPr lang="zh-CN" altLang="en-US" dirty="0"/>
              <a:t>：存储城市之间的道路距离（权重）。</a:t>
            </a:r>
          </a:p>
          <a:p>
            <a:r>
              <a:rPr lang="en-US" altLang="zh-CN" b="1" dirty="0" err="1"/>
              <a:t>vexnum</a:t>
            </a:r>
            <a:r>
              <a:rPr lang="zh-CN" altLang="en-US" dirty="0"/>
              <a:t> 和 </a:t>
            </a:r>
            <a:r>
              <a:rPr lang="en-US" altLang="zh-CN" b="1" dirty="0" err="1"/>
              <a:t>arcnum</a:t>
            </a:r>
            <a:r>
              <a:rPr lang="zh-CN" altLang="en-US" dirty="0"/>
              <a:t>：分别存储顶点数和边数。</a:t>
            </a:r>
          </a:p>
          <a:p>
            <a:endParaRPr lang="en-US" altLang="zh-CN" sz="28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spd="slow" advClick="0" advTm="2000">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5087"/>
            <a:ext cx="12192000" cy="954088"/>
          </a:xfrm>
          <a:prstGeom prst="rect">
            <a:avLst/>
          </a:prstGeom>
          <a:solidFill>
            <a:srgbClr val="1941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7" name="TextBox 59"/>
          <p:cNvSpPr txBox="1">
            <a:spLocks noChangeArrowheads="1"/>
          </p:cNvSpPr>
          <p:nvPr/>
        </p:nvSpPr>
        <p:spPr bwMode="auto">
          <a:xfrm>
            <a:off x="400050" y="187325"/>
            <a:ext cx="4510088" cy="460375"/>
          </a:xfrm>
          <a:prstGeom prst="rect">
            <a:avLst/>
          </a:prstGeom>
          <a:noFill/>
          <a:ln>
            <a:noFill/>
          </a:ln>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0" i="0" u="none" strike="noStrike" kern="1200" cap="none" spc="300" normalizeH="0" baseline="0" noProof="0" dirty="0">
                <a:ln>
                  <a:noFill/>
                </a:ln>
                <a:solidFill>
                  <a:schemeClr val="bg1"/>
                </a:solidFill>
                <a:effectLst/>
                <a:uLnTx/>
                <a:uFillTx/>
                <a:latin typeface="思源黑体 CN Light" panose="020B0300000000000000" pitchFamily="34" charset="-122"/>
                <a:ea typeface="思源黑体 CN Light" panose="020B0300000000000000" pitchFamily="34" charset="-122"/>
                <a:cs typeface="+mn-cs"/>
                <a:sym typeface="+mn-ea"/>
              </a:rPr>
              <a:t>课程设计方案</a:t>
            </a:r>
          </a:p>
        </p:txBody>
      </p:sp>
      <p:graphicFrame>
        <p:nvGraphicFramePr>
          <p:cNvPr id="13316" name="对象 15"/>
          <p:cNvGraphicFramePr>
            <a:graphicFrameLocks noChangeAspect="1"/>
          </p:cNvGraphicFramePr>
          <p:nvPr/>
        </p:nvGraphicFramePr>
        <p:xfrm>
          <a:off x="9486265" y="6053614"/>
          <a:ext cx="2474595" cy="692785"/>
        </p:xfrm>
        <a:graphic>
          <a:graphicData uri="http://schemas.openxmlformats.org/presentationml/2006/ole">
            <mc:AlternateContent xmlns:mc="http://schemas.openxmlformats.org/markup-compatibility/2006">
              <mc:Choice xmlns:v="urn:schemas-microsoft-com:vml" Requires="v">
                <p:oleObj r:id="rId3" imgW="5276850" imgH="1397000" progId="Word.Document.8">
                  <p:embed/>
                </p:oleObj>
              </mc:Choice>
              <mc:Fallback>
                <p:oleObj r:id="rId3" imgW="5276850" imgH="1397000" progId="Word.Document.8">
                  <p:embed/>
                  <p:pic>
                    <p:nvPicPr>
                      <p:cNvPr id="0" name="图片 3083"/>
                      <p:cNvPicPr/>
                      <p:nvPr/>
                    </p:nvPicPr>
                    <p:blipFill>
                      <a:blip r:embed="rId4"/>
                      <a:stretch>
                        <a:fillRect/>
                      </a:stretch>
                    </p:blipFill>
                    <p:spPr>
                      <a:xfrm>
                        <a:off x="9486265" y="6053614"/>
                        <a:ext cx="2474595" cy="692785"/>
                      </a:xfrm>
                      <a:prstGeom prst="rect">
                        <a:avLst/>
                      </a:prstGeom>
                      <a:noFill/>
                      <a:ln w="38100">
                        <a:noFill/>
                        <a:miter/>
                      </a:ln>
                    </p:spPr>
                  </p:pic>
                </p:oleObj>
              </mc:Fallback>
            </mc:AlternateContent>
          </a:graphicData>
        </a:graphic>
      </p:graphicFrame>
      <p:sp>
        <p:nvSpPr>
          <p:cNvPr id="5" name="文本框 4"/>
          <p:cNvSpPr txBox="1"/>
          <p:nvPr/>
        </p:nvSpPr>
        <p:spPr>
          <a:xfrm>
            <a:off x="231140" y="976154"/>
            <a:ext cx="11367135" cy="5077460"/>
          </a:xfrm>
          <a:prstGeom prst="rect">
            <a:avLst/>
          </a:prstGeom>
          <a:noFill/>
        </p:spPr>
        <p:txBody>
          <a:bodyPr wrap="square" rtlCol="0">
            <a:noAutofit/>
          </a:bodyPr>
          <a:lstStyle/>
          <a:p>
            <a:r>
              <a:rPr lang="en-US" altLang="zh-CN" b="1" dirty="0"/>
              <a:t>3. </a:t>
            </a:r>
            <a:r>
              <a:rPr lang="zh-CN" altLang="en-US" b="1" dirty="0"/>
              <a:t>功能模块设计</a:t>
            </a:r>
          </a:p>
          <a:p>
            <a:r>
              <a:rPr lang="en-US" altLang="zh-CN" b="1" dirty="0"/>
              <a:t>3.1 </a:t>
            </a:r>
            <a:r>
              <a:rPr lang="zh-CN" altLang="en-US" b="1" dirty="0"/>
              <a:t>顶点查找模块</a:t>
            </a:r>
          </a:p>
          <a:p>
            <a:r>
              <a:rPr lang="zh-CN" altLang="en-US" dirty="0"/>
              <a:t>实现 </a:t>
            </a:r>
            <a:r>
              <a:rPr lang="en-US" altLang="zh-CN" dirty="0" err="1"/>
              <a:t>LocateVex</a:t>
            </a:r>
            <a:r>
              <a:rPr lang="zh-CN" altLang="en-US" dirty="0"/>
              <a:t> 函数，根据城市名称查找其在图中的位置（顶点索引）。</a:t>
            </a:r>
          </a:p>
          <a:p>
            <a:r>
              <a:rPr lang="en-US" altLang="zh-CN" b="1" dirty="0"/>
              <a:t>3.2 </a:t>
            </a:r>
            <a:r>
              <a:rPr lang="zh-CN" altLang="en-US" b="1" dirty="0"/>
              <a:t>图的创建模块</a:t>
            </a:r>
          </a:p>
          <a:p>
            <a:r>
              <a:rPr lang="zh-CN" altLang="en-US" b="1" dirty="0"/>
              <a:t>初始化城市名称</a:t>
            </a:r>
            <a:r>
              <a:rPr lang="zh-CN" altLang="en-US" dirty="0"/>
              <a:t>：使用 </a:t>
            </a:r>
            <a:r>
              <a:rPr lang="en-US" altLang="zh-CN" dirty="0" err="1"/>
              <a:t>InitCityNames</a:t>
            </a:r>
            <a:r>
              <a:rPr lang="zh-CN" altLang="en-US" dirty="0"/>
              <a:t> 函数为 </a:t>
            </a:r>
            <a:r>
              <a:rPr lang="en-US" altLang="zh-CN" dirty="0" err="1"/>
              <a:t>vexs</a:t>
            </a:r>
            <a:r>
              <a:rPr lang="zh-CN" altLang="en-US" dirty="0"/>
              <a:t> 数组赋值。</a:t>
            </a:r>
          </a:p>
          <a:p>
            <a:r>
              <a:rPr lang="zh-CN" altLang="en-US" b="1" dirty="0"/>
              <a:t>初始化邻接矩阵</a:t>
            </a:r>
            <a:r>
              <a:rPr lang="zh-CN" altLang="en-US" dirty="0"/>
              <a:t>：使用 </a:t>
            </a:r>
            <a:r>
              <a:rPr lang="en-US" altLang="zh-CN" dirty="0" err="1"/>
              <a:t>InitMatrix</a:t>
            </a:r>
            <a:r>
              <a:rPr lang="zh-CN" altLang="en-US" dirty="0"/>
              <a:t> 函数初始化 </a:t>
            </a:r>
            <a:r>
              <a:rPr lang="en-US" altLang="zh-CN" dirty="0"/>
              <a:t>arcs</a:t>
            </a:r>
            <a:r>
              <a:rPr lang="zh-CN" altLang="en-US" dirty="0"/>
              <a:t> 矩阵，所有边的初始权重设为无穷大（</a:t>
            </a:r>
            <a:r>
              <a:rPr lang="en-US" altLang="zh-CN" dirty="0"/>
              <a:t>INFINITY</a:t>
            </a:r>
            <a:r>
              <a:rPr lang="zh-CN" altLang="en-US" dirty="0"/>
              <a:t>），对角线元素设为 </a:t>
            </a:r>
            <a:r>
              <a:rPr lang="en-US" altLang="zh-CN" dirty="0"/>
              <a:t>0</a:t>
            </a:r>
            <a:r>
              <a:rPr lang="zh-CN" altLang="en-US" dirty="0"/>
              <a:t>。</a:t>
            </a:r>
          </a:p>
          <a:p>
            <a:r>
              <a:rPr lang="zh-CN" altLang="en-US" b="1" dirty="0"/>
              <a:t>构建连接关系</a:t>
            </a:r>
            <a:r>
              <a:rPr lang="zh-CN" altLang="en-US" dirty="0"/>
              <a:t>：使用 </a:t>
            </a:r>
            <a:r>
              <a:rPr lang="en-US" altLang="zh-CN" dirty="0" err="1"/>
              <a:t>BuildConnections</a:t>
            </a:r>
            <a:r>
              <a:rPr lang="zh-CN" altLang="en-US" dirty="0"/>
              <a:t> 函数根据题目给定的连接信息填充 </a:t>
            </a:r>
            <a:r>
              <a:rPr lang="en-US" altLang="zh-CN" dirty="0"/>
              <a:t>arcs</a:t>
            </a:r>
            <a:r>
              <a:rPr lang="zh-CN" altLang="en-US" dirty="0"/>
              <a:t> 矩阵。</a:t>
            </a:r>
          </a:p>
          <a:p>
            <a:r>
              <a:rPr lang="en-US" altLang="zh-CN" b="1" dirty="0"/>
              <a:t>3.3 </a:t>
            </a:r>
            <a:r>
              <a:rPr lang="zh-CN" altLang="en-US" b="1" dirty="0"/>
              <a:t>最短路径计算模块</a:t>
            </a:r>
          </a:p>
          <a:p>
            <a:r>
              <a:rPr lang="zh-CN" altLang="en-US" dirty="0"/>
              <a:t>采用 </a:t>
            </a:r>
            <a:r>
              <a:rPr lang="en-US" altLang="zh-CN" b="1" dirty="0"/>
              <a:t>Dijkstra </a:t>
            </a:r>
            <a:r>
              <a:rPr lang="zh-CN" altLang="en-US" b="1" dirty="0"/>
              <a:t>算法</a:t>
            </a:r>
            <a:r>
              <a:rPr lang="zh-CN" altLang="en-US" dirty="0"/>
              <a:t> 实现最短路径计算：</a:t>
            </a:r>
          </a:p>
          <a:p>
            <a:r>
              <a:rPr lang="en-US" altLang="zh-CN" b="1" dirty="0" err="1"/>
              <a:t>DijkstraCore</a:t>
            </a:r>
            <a:r>
              <a:rPr lang="zh-CN" altLang="en-US" dirty="0"/>
              <a:t>：核心算法，计算从起点到所有顶点的最短距离。</a:t>
            </a:r>
          </a:p>
          <a:p>
            <a:r>
              <a:rPr lang="en-US" altLang="zh-CN" b="1" dirty="0"/>
              <a:t>choose</a:t>
            </a:r>
            <a:r>
              <a:rPr lang="zh-CN" altLang="en-US" dirty="0"/>
              <a:t>：选择下一个要扩展的顶点。</a:t>
            </a:r>
          </a:p>
          <a:p>
            <a:r>
              <a:rPr lang="en-US" altLang="zh-CN" b="1" dirty="0" err="1"/>
              <a:t>DisplayPath</a:t>
            </a:r>
            <a:r>
              <a:rPr lang="zh-CN" altLang="en-US" dirty="0"/>
              <a:t>：回溯并显示最短路径。</a:t>
            </a:r>
          </a:p>
          <a:p>
            <a:r>
              <a:rPr lang="en-US" altLang="zh-CN" b="1" dirty="0"/>
              <a:t>3.4 </a:t>
            </a:r>
            <a:r>
              <a:rPr lang="zh-CN" altLang="en-US" b="1" dirty="0"/>
              <a:t>业务功能模块</a:t>
            </a:r>
          </a:p>
          <a:p>
            <a:r>
              <a:rPr lang="en-US" altLang="zh-CN" b="1" dirty="0"/>
              <a:t>Dijkstra</a:t>
            </a:r>
            <a:r>
              <a:rPr lang="zh-CN" altLang="en-US" dirty="0"/>
              <a:t>：查询两个城市之间的最短路径。</a:t>
            </a:r>
          </a:p>
          <a:p>
            <a:r>
              <a:rPr lang="en-US" altLang="zh-CN" b="1" dirty="0" err="1"/>
              <a:t>QueryAllDistances</a:t>
            </a:r>
            <a:r>
              <a:rPr lang="zh-CN" altLang="en-US" dirty="0"/>
              <a:t>：查询某个城市到所有其他城市的最短距离。</a:t>
            </a:r>
          </a:p>
          <a:p>
            <a:r>
              <a:rPr lang="en-US" altLang="zh-CN" b="1" dirty="0" err="1"/>
              <a:t>DisplayAllCities</a:t>
            </a:r>
            <a:r>
              <a:rPr lang="zh-CN" altLang="en-US" dirty="0"/>
              <a:t>：显示所有城市列表。</a:t>
            </a:r>
          </a:p>
          <a:p>
            <a:r>
              <a:rPr lang="en-US" altLang="zh-CN" b="1" dirty="0" err="1"/>
              <a:t>DisplayMatrix</a:t>
            </a:r>
            <a:r>
              <a:rPr lang="zh-CN" altLang="en-US" dirty="0"/>
              <a:t>：显示城市距离邻接矩阵。</a:t>
            </a:r>
          </a:p>
          <a:p>
            <a:endParaRPr lang="zh-CN" altLang="en-US" sz="28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spd="slow" advClick="0" advTm="2000">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5087"/>
            <a:ext cx="12192000" cy="954088"/>
          </a:xfrm>
          <a:prstGeom prst="rect">
            <a:avLst/>
          </a:prstGeom>
          <a:solidFill>
            <a:srgbClr val="1941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7" name="TextBox 59"/>
          <p:cNvSpPr txBox="1">
            <a:spLocks noChangeArrowheads="1"/>
          </p:cNvSpPr>
          <p:nvPr/>
        </p:nvSpPr>
        <p:spPr bwMode="auto">
          <a:xfrm>
            <a:off x="400050" y="187325"/>
            <a:ext cx="4510088" cy="460375"/>
          </a:xfrm>
          <a:prstGeom prst="rect">
            <a:avLst/>
          </a:prstGeom>
          <a:noFill/>
          <a:ln>
            <a:noFill/>
          </a:ln>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0" i="0" u="none" strike="noStrike" kern="1200" cap="none" spc="300" normalizeH="0" baseline="0" noProof="0" dirty="0">
                <a:ln>
                  <a:noFill/>
                </a:ln>
                <a:solidFill>
                  <a:schemeClr val="bg1"/>
                </a:solidFill>
                <a:effectLst/>
                <a:uLnTx/>
                <a:uFillTx/>
                <a:latin typeface="思源黑体 CN Light" panose="020B0300000000000000" pitchFamily="34" charset="-122"/>
                <a:ea typeface="思源黑体 CN Light" panose="020B0300000000000000" pitchFamily="34" charset="-122"/>
                <a:cs typeface="+mn-cs"/>
                <a:sym typeface="+mn-ea"/>
              </a:rPr>
              <a:t>课程设计</a:t>
            </a:r>
            <a:r>
              <a:rPr lang="zh-CN" altLang="en-US" sz="2400" spc="300" dirty="0">
                <a:solidFill>
                  <a:schemeClr val="bg1"/>
                </a:solidFill>
                <a:latin typeface="思源黑体 CN Light" panose="020B0300000000000000" pitchFamily="34" charset="-122"/>
                <a:ea typeface="思源黑体 CN Light" panose="020B0300000000000000" pitchFamily="34" charset="-122"/>
                <a:sym typeface="+mn-ea"/>
              </a:rPr>
              <a:t>的实现方法</a:t>
            </a:r>
            <a:endParaRPr kumimoji="0" lang="zh-CN" altLang="en-US" sz="2400" b="0" i="0" u="none" strike="noStrike" kern="1200" cap="none" spc="300" normalizeH="0" baseline="0" noProof="0" dirty="0">
              <a:ln>
                <a:noFill/>
              </a:ln>
              <a:solidFill>
                <a:schemeClr val="bg1"/>
              </a:solidFill>
              <a:effectLst/>
              <a:uLnTx/>
              <a:uFillTx/>
              <a:latin typeface="思源黑体 CN Light" panose="020B0300000000000000" pitchFamily="34" charset="-122"/>
              <a:ea typeface="思源黑体 CN Light" panose="020B0300000000000000" pitchFamily="34" charset="-122"/>
              <a:cs typeface="+mn-cs"/>
              <a:sym typeface="+mn-ea"/>
            </a:endParaRPr>
          </a:p>
        </p:txBody>
      </p:sp>
      <p:graphicFrame>
        <p:nvGraphicFramePr>
          <p:cNvPr id="13316" name="对象 15"/>
          <p:cNvGraphicFramePr>
            <a:graphicFrameLocks noChangeAspect="1"/>
          </p:cNvGraphicFramePr>
          <p:nvPr/>
        </p:nvGraphicFramePr>
        <p:xfrm>
          <a:off x="9486265" y="6053614"/>
          <a:ext cx="2474595" cy="692785"/>
        </p:xfrm>
        <a:graphic>
          <a:graphicData uri="http://schemas.openxmlformats.org/presentationml/2006/ole">
            <mc:AlternateContent xmlns:mc="http://schemas.openxmlformats.org/markup-compatibility/2006">
              <mc:Choice xmlns:v="urn:schemas-microsoft-com:vml" Requires="v">
                <p:oleObj r:id="rId3" imgW="5276850" imgH="1397000" progId="Word.Document.8">
                  <p:embed/>
                </p:oleObj>
              </mc:Choice>
              <mc:Fallback>
                <p:oleObj r:id="rId3" imgW="5276850" imgH="1397000" progId="Word.Document.8">
                  <p:embed/>
                  <p:pic>
                    <p:nvPicPr>
                      <p:cNvPr id="0" name="图片 3083"/>
                      <p:cNvPicPr/>
                      <p:nvPr/>
                    </p:nvPicPr>
                    <p:blipFill>
                      <a:blip r:embed="rId4"/>
                      <a:stretch>
                        <a:fillRect/>
                      </a:stretch>
                    </p:blipFill>
                    <p:spPr>
                      <a:xfrm>
                        <a:off x="9486265" y="6053614"/>
                        <a:ext cx="2474595" cy="692785"/>
                      </a:xfrm>
                      <a:prstGeom prst="rect">
                        <a:avLst/>
                      </a:prstGeom>
                      <a:noFill/>
                      <a:ln w="38100">
                        <a:noFill/>
                        <a:miter/>
                      </a:ln>
                    </p:spPr>
                  </p:pic>
                </p:oleObj>
              </mc:Fallback>
            </mc:AlternateContent>
          </a:graphicData>
        </a:graphic>
      </p:graphicFrame>
      <p:sp>
        <p:nvSpPr>
          <p:cNvPr id="5" name="文本框 4"/>
          <p:cNvSpPr txBox="1"/>
          <p:nvPr/>
        </p:nvSpPr>
        <p:spPr>
          <a:xfrm>
            <a:off x="211455" y="1033304"/>
            <a:ext cx="4263953" cy="5713095"/>
          </a:xfrm>
          <a:prstGeom prst="rect">
            <a:avLst/>
          </a:prstGeom>
          <a:noFill/>
        </p:spPr>
        <p:txBody>
          <a:bodyPr wrap="square" rtlCol="0">
            <a:noAutofit/>
          </a:bodyPr>
          <a:lstStyle/>
          <a:p>
            <a:r>
              <a:rPr lang="en-US" altLang="zh-CN" b="1" dirty="0"/>
              <a:t>1. </a:t>
            </a:r>
            <a:r>
              <a:rPr lang="zh-CN" altLang="en-US" b="1" dirty="0"/>
              <a:t>顶点查找实现</a:t>
            </a:r>
            <a:endParaRPr lang="zh-CN" altLang="en-US" dirty="0"/>
          </a:p>
          <a:p>
            <a:r>
              <a:rPr lang="nb-NO" altLang="zh-CN" dirty="0"/>
              <a:t>int LocateVex(AMGraph G, char v[])</a:t>
            </a:r>
          </a:p>
          <a:p>
            <a:r>
              <a:rPr lang="nb-NO" altLang="zh-CN" dirty="0"/>
              <a:t>{</a:t>
            </a:r>
          </a:p>
          <a:p>
            <a:r>
              <a:rPr lang="nb-NO" altLang="zh-CN" dirty="0"/>
              <a:t>    for (int i = 0; i &lt; G.vexnum; i++)</a:t>
            </a:r>
          </a:p>
          <a:p>
            <a:r>
              <a:rPr lang="nb-NO" altLang="zh-CN" dirty="0"/>
              <a:t>    {</a:t>
            </a:r>
          </a:p>
          <a:p>
            <a:r>
              <a:rPr lang="nb-NO" altLang="zh-CN" dirty="0"/>
              <a:t>        if (strcmp(G.vexs[i], v) == 0)</a:t>
            </a:r>
          </a:p>
          <a:p>
            <a:r>
              <a:rPr lang="nb-NO" altLang="zh-CN" dirty="0"/>
              <a:t>            return i;</a:t>
            </a:r>
          </a:p>
          <a:p>
            <a:r>
              <a:rPr lang="nb-NO" altLang="zh-CN" dirty="0"/>
              <a:t>    }</a:t>
            </a:r>
          </a:p>
          <a:p>
            <a:r>
              <a:rPr lang="nb-NO" altLang="zh-CN" dirty="0"/>
              <a:t>    return -1;</a:t>
            </a:r>
          </a:p>
          <a:p>
            <a:r>
              <a:rPr lang="nb-NO" altLang="zh-CN" dirty="0"/>
              <a:t>}</a:t>
            </a:r>
          </a:p>
          <a:p>
            <a:endParaRPr lang="nb-NO" altLang="zh-CN" dirty="0"/>
          </a:p>
          <a:p>
            <a:r>
              <a:rPr lang="en-US" altLang="zh-CN" b="1" dirty="0"/>
              <a:t>2. </a:t>
            </a:r>
            <a:r>
              <a:rPr lang="zh-CN" altLang="en-US" b="1" dirty="0"/>
              <a:t>图的创建实现</a:t>
            </a:r>
          </a:p>
          <a:p>
            <a:pPr fontAlgn="t"/>
            <a:r>
              <a:rPr lang="zh-CN" altLang="en-US" b="1" dirty="0"/>
              <a:t>初始化城市名称</a:t>
            </a:r>
            <a:endParaRPr lang="zh-CN" altLang="en-US" dirty="0"/>
          </a:p>
          <a:p>
            <a:r>
              <a:rPr lang="nb-NO" altLang="zh-CN" dirty="0"/>
              <a:t>void InitCityNames(AMGraph *G)</a:t>
            </a:r>
          </a:p>
          <a:p>
            <a:r>
              <a:rPr lang="nb-NO" altLang="zh-CN" dirty="0"/>
              <a:t>{</a:t>
            </a:r>
          </a:p>
          <a:p>
            <a:r>
              <a:rPr lang="nb-NO" altLang="zh-CN" dirty="0"/>
              <a:t>    strcpy(G-&gt;vexs[0], "</a:t>
            </a:r>
            <a:r>
              <a:rPr lang="zh-CN" altLang="en-US" dirty="0"/>
              <a:t>九江市</a:t>
            </a:r>
            <a:r>
              <a:rPr lang="en-US" altLang="zh-CN" dirty="0"/>
              <a:t>");</a:t>
            </a:r>
          </a:p>
          <a:p>
            <a:r>
              <a:rPr lang="en-US" altLang="zh-CN" dirty="0"/>
              <a:t>    </a:t>
            </a:r>
            <a:r>
              <a:rPr lang="en-US" altLang="zh-CN" i="1" dirty="0"/>
              <a:t>// ... </a:t>
            </a:r>
            <a:r>
              <a:rPr lang="zh-CN" altLang="en-US" i="1" dirty="0"/>
              <a:t>其他城市名称初始化</a:t>
            </a:r>
            <a:endParaRPr lang="zh-CN" altLang="en-US" dirty="0"/>
          </a:p>
          <a:p>
            <a:r>
              <a:rPr lang="en-US" altLang="zh-CN" dirty="0"/>
              <a:t>}</a:t>
            </a:r>
          </a:p>
          <a:p>
            <a:endParaRPr lang="nb-NO" altLang="zh-CN" dirty="0"/>
          </a:p>
          <a:p>
            <a:endParaRPr lang="en-US" altLang="zh-CN" sz="2400" dirty="0">
              <a:latin typeface="宋体" panose="02010600030101010101" pitchFamily="2" charset="-122"/>
              <a:ea typeface="宋体" panose="02010600030101010101" pitchFamily="2" charset="-122"/>
              <a:cs typeface="宋体" panose="02010600030101010101" pitchFamily="2" charset="-122"/>
            </a:endParaRPr>
          </a:p>
        </p:txBody>
      </p:sp>
      <p:sp>
        <p:nvSpPr>
          <p:cNvPr id="3" name="文本框 2">
            <a:extLst>
              <a:ext uri="{FF2B5EF4-FFF2-40B4-BE49-F238E27FC236}">
                <a16:creationId xmlns:a16="http://schemas.microsoft.com/office/drawing/2014/main" id="{F4557D7F-D349-157E-6D6E-41B13910F72A}"/>
              </a:ext>
            </a:extLst>
          </p:cNvPr>
          <p:cNvSpPr txBox="1"/>
          <p:nvPr/>
        </p:nvSpPr>
        <p:spPr>
          <a:xfrm>
            <a:off x="4012842" y="915985"/>
            <a:ext cx="4166315" cy="6186309"/>
          </a:xfrm>
          <a:prstGeom prst="rect">
            <a:avLst/>
          </a:prstGeom>
          <a:noFill/>
        </p:spPr>
        <p:txBody>
          <a:bodyPr wrap="square" rtlCol="0">
            <a:spAutoFit/>
          </a:bodyPr>
          <a:lstStyle/>
          <a:p>
            <a:pPr fontAlgn="t"/>
            <a:r>
              <a:rPr lang="zh-CN" altLang="en-US" b="1" dirty="0"/>
              <a:t>初始化邻接矩阵</a:t>
            </a:r>
            <a:endParaRPr lang="zh-CN" altLang="en-US" dirty="0"/>
          </a:p>
          <a:p>
            <a:pPr fontAlgn="ctr"/>
            <a:endParaRPr lang="zh-CN" altLang="en-US" dirty="0"/>
          </a:p>
          <a:p>
            <a:r>
              <a:rPr lang="nb-NO" altLang="zh-CN" dirty="0"/>
              <a:t>void InitMatrix(AMGraph *G)</a:t>
            </a:r>
          </a:p>
          <a:p>
            <a:r>
              <a:rPr lang="nb-NO" altLang="zh-CN" dirty="0"/>
              <a:t>{</a:t>
            </a:r>
          </a:p>
          <a:p>
            <a:r>
              <a:rPr lang="nb-NO" altLang="zh-CN" dirty="0"/>
              <a:t>    for (int i = 0; i &lt; G-&gt;vexnum; i++)</a:t>
            </a:r>
          </a:p>
          <a:p>
            <a:r>
              <a:rPr lang="nb-NO" altLang="zh-CN" dirty="0"/>
              <a:t>    {</a:t>
            </a:r>
          </a:p>
          <a:p>
            <a:r>
              <a:rPr lang="nb-NO" altLang="zh-CN" dirty="0"/>
              <a:t>        for (int j = 0; j &lt; G-&gt;vexnum; j++)</a:t>
            </a:r>
          </a:p>
          <a:p>
            <a:r>
              <a:rPr lang="nb-NO" altLang="zh-CN" dirty="0"/>
              <a:t>        {</a:t>
            </a:r>
          </a:p>
          <a:p>
            <a:r>
              <a:rPr lang="nb-NO" altLang="zh-CN" dirty="0"/>
              <a:t>            G-&gt;arcs[i][j] = (i == j) ? 0 : INFINITY;</a:t>
            </a:r>
          </a:p>
          <a:p>
            <a:r>
              <a:rPr lang="nb-NO" altLang="zh-CN" dirty="0"/>
              <a:t>        }</a:t>
            </a:r>
          </a:p>
          <a:p>
            <a:r>
              <a:rPr lang="nb-NO" altLang="zh-CN" dirty="0"/>
              <a:t>    }</a:t>
            </a:r>
          </a:p>
          <a:p>
            <a:r>
              <a:rPr lang="nb-NO" altLang="zh-CN" dirty="0"/>
              <a:t>}</a:t>
            </a:r>
            <a:endParaRPr lang="en-US" altLang="zh-CN" dirty="0"/>
          </a:p>
          <a:p>
            <a:pPr fontAlgn="t"/>
            <a:r>
              <a:rPr lang="zh-CN" altLang="en-US" b="1" dirty="0"/>
              <a:t>构建连接关系</a:t>
            </a:r>
            <a:endParaRPr lang="zh-CN" altLang="en-US" dirty="0"/>
          </a:p>
          <a:p>
            <a:pPr fontAlgn="ctr"/>
            <a:endParaRPr lang="zh-CN" altLang="en-US" dirty="0"/>
          </a:p>
          <a:p>
            <a:r>
              <a:rPr lang="nb-NO" altLang="zh-CN" dirty="0"/>
              <a:t>void BuildConnections(AMGraph *G)</a:t>
            </a:r>
          </a:p>
          <a:p>
            <a:r>
              <a:rPr lang="nb-NO" altLang="zh-CN" dirty="0"/>
              <a:t>{</a:t>
            </a:r>
          </a:p>
          <a:p>
            <a:r>
              <a:rPr lang="nb-NO" altLang="zh-CN" dirty="0"/>
              <a:t>    </a:t>
            </a:r>
            <a:r>
              <a:rPr lang="nb-NO" altLang="zh-CN" i="1" dirty="0"/>
              <a:t>// </a:t>
            </a:r>
            <a:r>
              <a:rPr lang="zh-CN" altLang="en-US" i="1" dirty="0"/>
              <a:t>九江市</a:t>
            </a:r>
            <a:r>
              <a:rPr lang="en-US" altLang="zh-CN" i="1" dirty="0"/>
              <a:t>(0)</a:t>
            </a:r>
            <a:r>
              <a:rPr lang="zh-CN" altLang="en-US" i="1" dirty="0"/>
              <a:t>的连接</a:t>
            </a:r>
            <a:endParaRPr lang="zh-CN" altLang="en-US" dirty="0"/>
          </a:p>
          <a:p>
            <a:r>
              <a:rPr lang="zh-CN" altLang="en-US" dirty="0"/>
              <a:t>    </a:t>
            </a:r>
            <a:r>
              <a:rPr lang="nb-NO" altLang="zh-CN" dirty="0"/>
              <a:t>AddEdge(G, 0, 1, 143); </a:t>
            </a:r>
            <a:r>
              <a:rPr lang="nb-NO" altLang="zh-CN" i="1" dirty="0"/>
              <a:t>// </a:t>
            </a:r>
            <a:r>
              <a:rPr lang="zh-CN" altLang="en-US" i="1" dirty="0"/>
              <a:t>九江市 </a:t>
            </a:r>
            <a:r>
              <a:rPr lang="en-US" altLang="zh-CN" i="1" dirty="0"/>
              <a:t>&lt;-&gt; </a:t>
            </a:r>
            <a:r>
              <a:rPr lang="zh-CN" altLang="en-US" i="1" dirty="0"/>
              <a:t>景德镇</a:t>
            </a:r>
            <a:endParaRPr lang="zh-CN" altLang="en-US" dirty="0"/>
          </a:p>
          <a:p>
            <a:r>
              <a:rPr lang="zh-CN" altLang="en-US" dirty="0"/>
              <a:t>    </a:t>
            </a:r>
            <a:r>
              <a:rPr lang="en-US" altLang="zh-CN" i="1" dirty="0"/>
              <a:t>// ... </a:t>
            </a:r>
            <a:r>
              <a:rPr lang="zh-CN" altLang="en-US" i="1" dirty="0"/>
              <a:t>其他连接关系</a:t>
            </a:r>
            <a:endParaRPr lang="zh-CN" altLang="en-US" dirty="0"/>
          </a:p>
          <a:p>
            <a:r>
              <a:rPr lang="en-US" altLang="zh-CN" dirty="0"/>
              <a:t>}</a:t>
            </a:r>
          </a:p>
          <a:p>
            <a:endParaRPr lang="zh-CN" altLang="en-US" dirty="0"/>
          </a:p>
        </p:txBody>
      </p:sp>
      <p:sp>
        <p:nvSpPr>
          <p:cNvPr id="6" name="文本框 5">
            <a:extLst>
              <a:ext uri="{FF2B5EF4-FFF2-40B4-BE49-F238E27FC236}">
                <a16:creationId xmlns:a16="http://schemas.microsoft.com/office/drawing/2014/main" id="{F02F22A3-33BB-66C8-6551-17513E6C99A0}"/>
              </a:ext>
            </a:extLst>
          </p:cNvPr>
          <p:cNvSpPr txBox="1"/>
          <p:nvPr/>
        </p:nvSpPr>
        <p:spPr>
          <a:xfrm>
            <a:off x="8094372" y="915985"/>
            <a:ext cx="3998890" cy="2862322"/>
          </a:xfrm>
          <a:prstGeom prst="rect">
            <a:avLst/>
          </a:prstGeom>
          <a:noFill/>
        </p:spPr>
        <p:txBody>
          <a:bodyPr wrap="square" rtlCol="0">
            <a:spAutoFit/>
          </a:bodyPr>
          <a:lstStyle/>
          <a:p>
            <a:pPr fontAlgn="t"/>
            <a:r>
              <a:rPr lang="zh-CN" altLang="en-US" b="1" dirty="0"/>
              <a:t>创建无向网</a:t>
            </a:r>
            <a:endParaRPr lang="zh-CN" altLang="en-US" dirty="0"/>
          </a:p>
          <a:p>
            <a:r>
              <a:rPr lang="nb-NO" altLang="zh-CN" dirty="0"/>
              <a:t>void CreateUDN(AMGraph *G)</a:t>
            </a:r>
          </a:p>
          <a:p>
            <a:r>
              <a:rPr lang="nb-NO" altLang="zh-CN" dirty="0"/>
              <a:t>{</a:t>
            </a:r>
          </a:p>
          <a:p>
            <a:r>
              <a:rPr lang="nb-NO" altLang="zh-CN" dirty="0"/>
              <a:t>    G-&gt;vexnum = 11;</a:t>
            </a:r>
          </a:p>
          <a:p>
            <a:r>
              <a:rPr lang="nb-NO" altLang="zh-CN" dirty="0"/>
              <a:t>    G-&gt;arcnum = 0;</a:t>
            </a:r>
          </a:p>
          <a:p>
            <a:r>
              <a:rPr lang="nb-NO" altLang="zh-CN" dirty="0"/>
              <a:t>    InitCityNames(G);</a:t>
            </a:r>
          </a:p>
          <a:p>
            <a:r>
              <a:rPr lang="nb-NO" altLang="zh-CN" dirty="0"/>
              <a:t>    InitMatrix(G);</a:t>
            </a:r>
          </a:p>
          <a:p>
            <a:r>
              <a:rPr lang="nb-NO" altLang="zh-CN" dirty="0"/>
              <a:t>    BuildConnections(G);</a:t>
            </a:r>
          </a:p>
          <a:p>
            <a:r>
              <a:rPr lang="nb-NO" altLang="zh-CN" dirty="0"/>
              <a:t>}</a:t>
            </a:r>
          </a:p>
          <a:p>
            <a:endParaRPr lang="zh-CN" altLang="en-US" dirty="0"/>
          </a:p>
        </p:txBody>
      </p:sp>
    </p:spTree>
  </p:cSld>
  <p:clrMapOvr>
    <a:masterClrMapping/>
  </p:clrMapOvr>
  <p:transition spd="slow" advClick="0" advTm="2000">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5087"/>
            <a:ext cx="12192000" cy="954088"/>
          </a:xfrm>
          <a:prstGeom prst="rect">
            <a:avLst/>
          </a:prstGeom>
          <a:solidFill>
            <a:srgbClr val="1941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7" name="TextBox 59"/>
          <p:cNvSpPr txBox="1">
            <a:spLocks noChangeArrowheads="1"/>
          </p:cNvSpPr>
          <p:nvPr/>
        </p:nvSpPr>
        <p:spPr bwMode="auto">
          <a:xfrm>
            <a:off x="400050" y="187325"/>
            <a:ext cx="4510088" cy="461665"/>
          </a:xfrm>
          <a:prstGeom prst="rect">
            <a:avLst/>
          </a:prstGeom>
          <a:noFill/>
          <a:ln>
            <a:noFill/>
          </a:ln>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0" i="0" u="none" strike="noStrike" kern="1200" cap="none" spc="300" normalizeH="0" baseline="0" noProof="0" dirty="0">
                <a:ln>
                  <a:noFill/>
                </a:ln>
                <a:solidFill>
                  <a:schemeClr val="bg1"/>
                </a:solidFill>
                <a:effectLst/>
                <a:uLnTx/>
                <a:uFillTx/>
                <a:latin typeface="思源黑体 CN Light" panose="020B0300000000000000" pitchFamily="34" charset="-122"/>
                <a:ea typeface="思源黑体 CN Light" panose="020B0300000000000000" pitchFamily="34" charset="-122"/>
                <a:cs typeface="+mn-cs"/>
                <a:sym typeface="+mn-ea"/>
              </a:rPr>
              <a:t>课程设计的实现方法</a:t>
            </a:r>
          </a:p>
        </p:txBody>
      </p:sp>
      <p:graphicFrame>
        <p:nvGraphicFramePr>
          <p:cNvPr id="13316" name="对象 15"/>
          <p:cNvGraphicFramePr>
            <a:graphicFrameLocks noChangeAspect="1"/>
          </p:cNvGraphicFramePr>
          <p:nvPr/>
        </p:nvGraphicFramePr>
        <p:xfrm>
          <a:off x="9486265" y="6053614"/>
          <a:ext cx="2474595" cy="692785"/>
        </p:xfrm>
        <a:graphic>
          <a:graphicData uri="http://schemas.openxmlformats.org/presentationml/2006/ole">
            <mc:AlternateContent xmlns:mc="http://schemas.openxmlformats.org/markup-compatibility/2006">
              <mc:Choice xmlns:v="urn:schemas-microsoft-com:vml" Requires="v">
                <p:oleObj r:id="rId3" imgW="5276850" imgH="1397000" progId="Word.Document.8">
                  <p:embed/>
                </p:oleObj>
              </mc:Choice>
              <mc:Fallback>
                <p:oleObj r:id="rId3" imgW="5276850" imgH="1397000" progId="Word.Document.8">
                  <p:embed/>
                  <p:pic>
                    <p:nvPicPr>
                      <p:cNvPr id="0" name="图片 3083"/>
                      <p:cNvPicPr/>
                      <p:nvPr/>
                    </p:nvPicPr>
                    <p:blipFill>
                      <a:blip r:embed="rId4"/>
                      <a:stretch>
                        <a:fillRect/>
                      </a:stretch>
                    </p:blipFill>
                    <p:spPr>
                      <a:xfrm>
                        <a:off x="9486265" y="6053614"/>
                        <a:ext cx="2474595" cy="692785"/>
                      </a:xfrm>
                      <a:prstGeom prst="rect">
                        <a:avLst/>
                      </a:prstGeom>
                      <a:noFill/>
                      <a:ln w="38100">
                        <a:noFill/>
                        <a:miter/>
                      </a:ln>
                    </p:spPr>
                  </p:pic>
                </p:oleObj>
              </mc:Fallback>
            </mc:AlternateContent>
          </a:graphicData>
        </a:graphic>
      </p:graphicFrame>
      <p:sp>
        <p:nvSpPr>
          <p:cNvPr id="5" name="文本框 4"/>
          <p:cNvSpPr txBox="1"/>
          <p:nvPr/>
        </p:nvSpPr>
        <p:spPr>
          <a:xfrm>
            <a:off x="308047" y="901402"/>
            <a:ext cx="4102968" cy="5713095"/>
          </a:xfrm>
          <a:prstGeom prst="rect">
            <a:avLst/>
          </a:prstGeom>
          <a:noFill/>
        </p:spPr>
        <p:txBody>
          <a:bodyPr wrap="square" rtlCol="0">
            <a:noAutofit/>
          </a:bodyPr>
          <a:lstStyle/>
          <a:p>
            <a:r>
              <a:rPr lang="en-US" altLang="zh-CN" sz="900" b="1" dirty="0"/>
              <a:t>3. </a:t>
            </a:r>
            <a:r>
              <a:rPr lang="zh-CN" altLang="en-US" sz="900" b="1" dirty="0"/>
              <a:t>最短路径计算实现</a:t>
            </a:r>
          </a:p>
          <a:p>
            <a:pPr fontAlgn="t"/>
            <a:r>
              <a:rPr lang="nb-NO" altLang="zh-CN" sz="900" b="1" dirty="0"/>
              <a:t>Dijkstra </a:t>
            </a:r>
            <a:r>
              <a:rPr lang="zh-CN" altLang="en-US" sz="900" b="1" dirty="0"/>
              <a:t>算法核心</a:t>
            </a:r>
            <a:endParaRPr lang="zh-CN" altLang="en-US" sz="900" dirty="0"/>
          </a:p>
          <a:p>
            <a:r>
              <a:rPr lang="nb-NO" altLang="zh-CN" sz="900" dirty="0"/>
              <a:t>void DijkstraCore(AMGraph G, int begin, int distance[], int path[])</a:t>
            </a:r>
          </a:p>
          <a:p>
            <a:r>
              <a:rPr lang="nb-NO" altLang="zh-CN" sz="900" dirty="0"/>
              <a:t>{</a:t>
            </a:r>
          </a:p>
          <a:p>
            <a:r>
              <a:rPr lang="nb-NO" altLang="zh-CN" sz="900" dirty="0"/>
              <a:t>    int found[MAXSIZE];</a:t>
            </a:r>
          </a:p>
          <a:p>
            <a:endParaRPr lang="nb-NO" altLang="zh-CN" sz="900" dirty="0"/>
          </a:p>
          <a:p>
            <a:r>
              <a:rPr lang="nb-NO" altLang="zh-CN" sz="900" dirty="0"/>
              <a:t>    </a:t>
            </a:r>
            <a:r>
              <a:rPr lang="nb-NO" altLang="zh-CN" sz="900" i="1" dirty="0"/>
              <a:t>// </a:t>
            </a:r>
            <a:r>
              <a:rPr lang="zh-CN" altLang="en-US" sz="900" i="1" dirty="0"/>
              <a:t>初始化</a:t>
            </a:r>
            <a:endParaRPr lang="zh-CN" altLang="en-US" sz="900" dirty="0"/>
          </a:p>
          <a:p>
            <a:r>
              <a:rPr lang="zh-CN" altLang="en-US" sz="900" dirty="0"/>
              <a:t>    </a:t>
            </a:r>
            <a:r>
              <a:rPr lang="nb-NO" altLang="zh-CN" sz="900" dirty="0"/>
              <a:t>for (int i = 0; i &lt; G.vexnum; i++)</a:t>
            </a:r>
          </a:p>
          <a:p>
            <a:r>
              <a:rPr lang="nb-NO" altLang="zh-CN" sz="900" dirty="0"/>
              <a:t>    {</a:t>
            </a:r>
          </a:p>
          <a:p>
            <a:r>
              <a:rPr lang="nb-NO" altLang="zh-CN" sz="900" dirty="0"/>
              <a:t>        found[i] = 0;</a:t>
            </a:r>
          </a:p>
          <a:p>
            <a:r>
              <a:rPr lang="nb-NO" altLang="zh-CN" sz="900" dirty="0"/>
              <a:t>        path[i] = -1;</a:t>
            </a:r>
          </a:p>
          <a:p>
            <a:r>
              <a:rPr lang="nb-NO" altLang="zh-CN" sz="900" dirty="0"/>
              <a:t>        distance[i] = G.arcs[begin][i];</a:t>
            </a:r>
          </a:p>
          <a:p>
            <a:r>
              <a:rPr lang="nb-NO" altLang="zh-CN" sz="900" dirty="0"/>
              <a:t>    }</a:t>
            </a:r>
          </a:p>
          <a:p>
            <a:endParaRPr lang="nb-NO" altLang="zh-CN" sz="900" dirty="0"/>
          </a:p>
          <a:p>
            <a:r>
              <a:rPr lang="nb-NO" altLang="zh-CN" sz="900" dirty="0"/>
              <a:t>    found[begin] = 1;</a:t>
            </a:r>
          </a:p>
          <a:p>
            <a:r>
              <a:rPr lang="nb-NO" altLang="zh-CN" sz="900" dirty="0"/>
              <a:t>    distance[begin] = 0;</a:t>
            </a:r>
          </a:p>
          <a:p>
            <a:endParaRPr lang="nb-NO" altLang="zh-CN" sz="900" dirty="0"/>
          </a:p>
          <a:p>
            <a:r>
              <a:rPr lang="nb-NO" altLang="zh-CN" sz="900" dirty="0"/>
              <a:t>    </a:t>
            </a:r>
            <a:r>
              <a:rPr lang="nb-NO" altLang="zh-CN" sz="900" i="1" dirty="0"/>
              <a:t>// </a:t>
            </a:r>
            <a:r>
              <a:rPr lang="zh-CN" altLang="en-US" sz="900" i="1" dirty="0"/>
              <a:t>主循环</a:t>
            </a:r>
            <a:endParaRPr lang="zh-CN" altLang="en-US" sz="900" dirty="0"/>
          </a:p>
          <a:p>
            <a:r>
              <a:rPr lang="zh-CN" altLang="en-US" sz="900" dirty="0"/>
              <a:t>    </a:t>
            </a:r>
            <a:r>
              <a:rPr lang="nb-NO" altLang="zh-CN" sz="900" dirty="0"/>
              <a:t>for (int i = 1; i &lt; G.vexnum; i++)</a:t>
            </a:r>
          </a:p>
          <a:p>
            <a:r>
              <a:rPr lang="nb-NO" altLang="zh-CN" sz="900" dirty="0"/>
              <a:t>    {</a:t>
            </a:r>
          </a:p>
          <a:p>
            <a:r>
              <a:rPr lang="nb-NO" altLang="zh-CN" sz="900" dirty="0"/>
              <a:t>        int next = choose(distance, found, G.vexnum);</a:t>
            </a:r>
          </a:p>
          <a:p>
            <a:r>
              <a:rPr lang="nb-NO" altLang="zh-CN" sz="900" dirty="0"/>
              <a:t>        if (next == -1)</a:t>
            </a:r>
          </a:p>
          <a:p>
            <a:r>
              <a:rPr lang="nb-NO" altLang="zh-CN" sz="900" dirty="0"/>
              <a:t>            break;</a:t>
            </a:r>
          </a:p>
          <a:p>
            <a:endParaRPr lang="nb-NO" altLang="zh-CN" sz="900" dirty="0"/>
          </a:p>
          <a:p>
            <a:r>
              <a:rPr lang="nb-NO" altLang="zh-CN" sz="900" dirty="0"/>
              <a:t>        found[next] = 1;</a:t>
            </a:r>
          </a:p>
          <a:p>
            <a:endParaRPr lang="nb-NO" altLang="zh-CN" sz="900" dirty="0"/>
          </a:p>
          <a:p>
            <a:r>
              <a:rPr lang="nb-NO" altLang="zh-CN" sz="900" dirty="0"/>
              <a:t>        </a:t>
            </a:r>
            <a:r>
              <a:rPr lang="nb-NO" altLang="zh-CN" sz="900" i="1" dirty="0"/>
              <a:t>// </a:t>
            </a:r>
            <a:r>
              <a:rPr lang="zh-CN" altLang="en-US" sz="900" i="1" dirty="0"/>
              <a:t>更新距离</a:t>
            </a:r>
            <a:endParaRPr lang="zh-CN" altLang="en-US" sz="900" dirty="0"/>
          </a:p>
          <a:p>
            <a:r>
              <a:rPr lang="zh-CN" altLang="en-US" sz="900" dirty="0"/>
              <a:t>        </a:t>
            </a:r>
            <a:r>
              <a:rPr lang="nb-NO" altLang="zh-CN" sz="900" dirty="0"/>
              <a:t>for (int j = 0; j &lt; G.vexnum; j++)</a:t>
            </a:r>
          </a:p>
          <a:p>
            <a:r>
              <a:rPr lang="nb-NO" altLang="zh-CN" sz="900" dirty="0"/>
              <a:t>        {</a:t>
            </a:r>
          </a:p>
          <a:p>
            <a:r>
              <a:rPr lang="nb-NO" altLang="zh-CN" sz="900" dirty="0"/>
              <a:t>            if (!found[j] &amp;&amp; distance[next] != INFINITY &amp;&amp; G.arcs[next][j] != INFINITY)</a:t>
            </a:r>
          </a:p>
          <a:p>
            <a:r>
              <a:rPr lang="nb-NO" altLang="zh-CN" sz="900" dirty="0"/>
              <a:t>            {</a:t>
            </a:r>
          </a:p>
          <a:p>
            <a:r>
              <a:rPr lang="nb-NO" altLang="zh-CN" sz="900" dirty="0"/>
              <a:t>                int newDist = distance[next] + G.arcs[next][j];</a:t>
            </a:r>
          </a:p>
          <a:p>
            <a:r>
              <a:rPr lang="nb-NO" altLang="zh-CN" sz="900" dirty="0"/>
              <a:t>                if (newDist &lt; distance[j])</a:t>
            </a:r>
          </a:p>
          <a:p>
            <a:r>
              <a:rPr lang="nb-NO" altLang="zh-CN" sz="900" dirty="0"/>
              <a:t>                {</a:t>
            </a:r>
          </a:p>
          <a:p>
            <a:r>
              <a:rPr lang="nb-NO" altLang="zh-CN" sz="900" dirty="0"/>
              <a:t>                    distance[j] = newDist;</a:t>
            </a:r>
          </a:p>
          <a:p>
            <a:r>
              <a:rPr lang="nb-NO" altLang="zh-CN" sz="900" dirty="0"/>
              <a:t>                    path[j] = next;</a:t>
            </a:r>
          </a:p>
          <a:p>
            <a:r>
              <a:rPr lang="nb-NO" altLang="zh-CN" sz="900" dirty="0"/>
              <a:t>                }</a:t>
            </a:r>
          </a:p>
          <a:p>
            <a:r>
              <a:rPr lang="nb-NO" altLang="zh-CN" sz="900" dirty="0"/>
              <a:t>            }</a:t>
            </a:r>
          </a:p>
          <a:p>
            <a:r>
              <a:rPr lang="nb-NO" altLang="zh-CN" sz="900" dirty="0"/>
              <a:t>        }</a:t>
            </a:r>
          </a:p>
          <a:p>
            <a:r>
              <a:rPr lang="nb-NO" altLang="zh-CN" sz="900" dirty="0"/>
              <a:t>    }</a:t>
            </a:r>
          </a:p>
          <a:p>
            <a:r>
              <a:rPr lang="nb-NO" altLang="zh-CN" sz="900" dirty="0"/>
              <a:t>}</a:t>
            </a:r>
          </a:p>
          <a:p>
            <a:endParaRPr lang="en-US" altLang="zh-CN" sz="2400"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
        <p:nvSpPr>
          <p:cNvPr id="3" name="文本框 2">
            <a:extLst>
              <a:ext uri="{FF2B5EF4-FFF2-40B4-BE49-F238E27FC236}">
                <a16:creationId xmlns:a16="http://schemas.microsoft.com/office/drawing/2014/main" id="{54F8A8A1-A7A6-7AF9-B113-325EB71C5BE4}"/>
              </a:ext>
            </a:extLst>
          </p:cNvPr>
          <p:cNvSpPr txBox="1"/>
          <p:nvPr/>
        </p:nvSpPr>
        <p:spPr>
          <a:xfrm>
            <a:off x="4296715" y="901402"/>
            <a:ext cx="4102968" cy="5221942"/>
          </a:xfrm>
          <a:prstGeom prst="rect">
            <a:avLst/>
          </a:prstGeom>
          <a:noFill/>
        </p:spPr>
        <p:txBody>
          <a:bodyPr wrap="square">
            <a:spAutoFit/>
          </a:bodyPr>
          <a:lstStyle/>
          <a:p>
            <a:pPr algn="l" fontAlgn="t">
              <a:lnSpc>
                <a:spcPts val="2100"/>
              </a:lnSpc>
              <a:spcBef>
                <a:spcPts val="600"/>
              </a:spcBef>
              <a:spcAft>
                <a:spcPts val="600"/>
              </a:spcAft>
            </a:pPr>
            <a:r>
              <a:rPr lang="zh-CN" altLang="en-US" sz="1400" b="1" i="0" dirty="0">
                <a:solidFill>
                  <a:srgbClr val="111133"/>
                </a:solidFill>
                <a:effectLst/>
                <a:latin typeface="-apple-system"/>
              </a:rPr>
              <a:t>选择下一个顶点</a:t>
            </a:r>
            <a:endParaRPr lang="zh-CN" altLang="en-US" sz="1400" b="0" i="0" dirty="0">
              <a:solidFill>
                <a:srgbClr val="1F2328"/>
              </a:solidFill>
              <a:effectLst/>
              <a:latin typeface="ui-monospace"/>
            </a:endParaRPr>
          </a:p>
          <a:p>
            <a:pPr algn="l" rtl="0" latinLnBrk="0">
              <a:lnSpc>
                <a:spcPts val="1500"/>
              </a:lnSpc>
              <a:spcBef>
                <a:spcPts val="600"/>
              </a:spcBef>
              <a:spcAft>
                <a:spcPts val="600"/>
              </a:spcAft>
            </a:pPr>
            <a:r>
              <a:rPr lang="nb-NO" altLang="zh-CN" sz="1400" b="0" i="0" dirty="0">
                <a:solidFill>
                  <a:srgbClr val="0000FF"/>
                </a:solidFill>
                <a:effectLst/>
                <a:latin typeface="ui-monospace"/>
              </a:rPr>
              <a:t>int</a:t>
            </a:r>
            <a:r>
              <a:rPr lang="nb-NO" altLang="zh-CN" sz="1400" b="0" i="0" dirty="0">
                <a:solidFill>
                  <a:srgbClr val="393A34"/>
                </a:solidFill>
                <a:effectLst/>
                <a:latin typeface="ui-monospace"/>
              </a:rPr>
              <a:t> choose(</a:t>
            </a:r>
            <a:r>
              <a:rPr lang="nb-NO" altLang="zh-CN" sz="1400" b="0" i="0" dirty="0">
                <a:solidFill>
                  <a:srgbClr val="0000FF"/>
                </a:solidFill>
                <a:effectLst/>
                <a:latin typeface="ui-monospace"/>
              </a:rPr>
              <a:t>int</a:t>
            </a:r>
            <a:r>
              <a:rPr lang="nb-NO" altLang="zh-CN" sz="1400" b="0" i="0" dirty="0">
                <a:solidFill>
                  <a:srgbClr val="393A34"/>
                </a:solidFill>
                <a:effectLst/>
                <a:latin typeface="ui-monospace"/>
              </a:rPr>
              <a:t> distance[], </a:t>
            </a:r>
            <a:r>
              <a:rPr lang="nb-NO" altLang="zh-CN" sz="1400" b="0" i="0" dirty="0">
                <a:solidFill>
                  <a:srgbClr val="0000FF"/>
                </a:solidFill>
                <a:effectLst/>
                <a:latin typeface="ui-monospace"/>
              </a:rPr>
              <a:t>int</a:t>
            </a:r>
            <a:r>
              <a:rPr lang="nb-NO" altLang="zh-CN" sz="1400" b="0" i="0" dirty="0">
                <a:solidFill>
                  <a:srgbClr val="393A34"/>
                </a:solidFill>
                <a:effectLst/>
                <a:latin typeface="ui-monospace"/>
              </a:rPr>
              <a:t> found[], </a:t>
            </a:r>
            <a:r>
              <a:rPr lang="nb-NO" altLang="zh-CN" sz="1400" b="0" i="0" dirty="0">
                <a:solidFill>
                  <a:srgbClr val="0000FF"/>
                </a:solidFill>
                <a:effectLst/>
                <a:latin typeface="ui-monospace"/>
              </a:rPr>
              <a:t>int</a:t>
            </a:r>
            <a:r>
              <a:rPr lang="nb-NO" altLang="zh-CN" sz="1400" b="0" i="0" dirty="0">
                <a:solidFill>
                  <a:srgbClr val="393A34"/>
                </a:solidFill>
                <a:effectLst/>
                <a:latin typeface="ui-monospace"/>
              </a:rPr>
              <a:t> vertex_num)</a:t>
            </a:r>
          </a:p>
          <a:p>
            <a:pPr algn="l" rtl="0" latinLnBrk="0">
              <a:lnSpc>
                <a:spcPts val="1500"/>
              </a:lnSpc>
              <a:spcBef>
                <a:spcPts val="600"/>
              </a:spcBef>
              <a:spcAft>
                <a:spcPts val="600"/>
              </a:spcAft>
            </a:pPr>
            <a:r>
              <a:rPr lang="nb-NO" altLang="zh-CN" sz="1400" b="0" i="0" dirty="0">
                <a:solidFill>
                  <a:srgbClr val="393A34"/>
                </a:solidFill>
                <a:effectLst/>
                <a:latin typeface="ui-monospace"/>
              </a:rPr>
              <a:t>{</a:t>
            </a:r>
          </a:p>
          <a:p>
            <a:pPr algn="l" rtl="0" latinLnBrk="0">
              <a:lnSpc>
                <a:spcPts val="1500"/>
              </a:lnSpc>
              <a:spcBef>
                <a:spcPts val="600"/>
              </a:spcBef>
              <a:spcAft>
                <a:spcPts val="600"/>
              </a:spcAft>
            </a:pPr>
            <a:r>
              <a:rPr lang="nb-NO" altLang="zh-CN" sz="1400" b="0" i="0" dirty="0">
                <a:solidFill>
                  <a:srgbClr val="393A34"/>
                </a:solidFill>
                <a:effectLst/>
                <a:latin typeface="ui-monospace"/>
              </a:rPr>
              <a:t>    </a:t>
            </a:r>
            <a:r>
              <a:rPr lang="nb-NO" altLang="zh-CN" sz="1400" b="0" i="0" dirty="0">
                <a:solidFill>
                  <a:srgbClr val="0000FF"/>
                </a:solidFill>
                <a:effectLst/>
                <a:latin typeface="ui-monospace"/>
              </a:rPr>
              <a:t>int</a:t>
            </a:r>
            <a:r>
              <a:rPr lang="nb-NO" altLang="zh-CN" sz="1400" b="0" i="0" dirty="0">
                <a:solidFill>
                  <a:srgbClr val="393A34"/>
                </a:solidFill>
                <a:effectLst/>
                <a:latin typeface="ui-monospace"/>
              </a:rPr>
              <a:t> min = INFINITY;</a:t>
            </a:r>
          </a:p>
          <a:p>
            <a:pPr algn="l" rtl="0" latinLnBrk="0">
              <a:lnSpc>
                <a:spcPts val="1500"/>
              </a:lnSpc>
              <a:spcBef>
                <a:spcPts val="600"/>
              </a:spcBef>
              <a:spcAft>
                <a:spcPts val="600"/>
              </a:spcAft>
            </a:pPr>
            <a:r>
              <a:rPr lang="nb-NO" altLang="zh-CN" sz="1400" b="0" i="0" dirty="0">
                <a:solidFill>
                  <a:srgbClr val="393A34"/>
                </a:solidFill>
                <a:effectLst/>
                <a:latin typeface="ui-monospace"/>
              </a:rPr>
              <a:t>    </a:t>
            </a:r>
            <a:r>
              <a:rPr lang="nb-NO" altLang="zh-CN" sz="1400" b="0" i="0" dirty="0">
                <a:solidFill>
                  <a:srgbClr val="0000FF"/>
                </a:solidFill>
                <a:effectLst/>
                <a:latin typeface="ui-monospace"/>
              </a:rPr>
              <a:t>int</a:t>
            </a:r>
            <a:r>
              <a:rPr lang="nb-NO" altLang="zh-CN" sz="1400" b="0" i="0" dirty="0">
                <a:solidFill>
                  <a:srgbClr val="393A34"/>
                </a:solidFill>
                <a:effectLst/>
                <a:latin typeface="ui-monospace"/>
              </a:rPr>
              <a:t> minPos = -</a:t>
            </a:r>
            <a:r>
              <a:rPr lang="nb-NO" altLang="zh-CN" sz="1400" b="0" i="0" dirty="0">
                <a:solidFill>
                  <a:srgbClr val="36ACAA"/>
                </a:solidFill>
                <a:effectLst/>
                <a:latin typeface="ui-monospace"/>
              </a:rPr>
              <a:t>1</a:t>
            </a:r>
            <a:r>
              <a:rPr lang="nb-NO" altLang="zh-CN" sz="1400" b="0" i="0" dirty="0">
                <a:solidFill>
                  <a:srgbClr val="393A34"/>
                </a:solidFill>
                <a:effectLst/>
                <a:latin typeface="ui-monospace"/>
              </a:rPr>
              <a:t>;</a:t>
            </a:r>
          </a:p>
          <a:p>
            <a:pPr algn="l" rtl="0" latinLnBrk="0">
              <a:lnSpc>
                <a:spcPts val="1500"/>
              </a:lnSpc>
              <a:spcBef>
                <a:spcPts val="600"/>
              </a:spcBef>
              <a:spcAft>
                <a:spcPts val="600"/>
              </a:spcAft>
            </a:pPr>
            <a:r>
              <a:rPr lang="nb-NO" altLang="zh-CN" sz="1400" b="0" i="0" dirty="0">
                <a:solidFill>
                  <a:srgbClr val="393A34"/>
                </a:solidFill>
                <a:effectLst/>
                <a:latin typeface="ui-monospace"/>
              </a:rPr>
              <a:t>    </a:t>
            </a:r>
            <a:r>
              <a:rPr lang="nb-NO" altLang="zh-CN" sz="1400" b="0" i="0" dirty="0">
                <a:solidFill>
                  <a:srgbClr val="0000FF"/>
                </a:solidFill>
                <a:effectLst/>
                <a:latin typeface="ui-monospace"/>
              </a:rPr>
              <a:t>for</a:t>
            </a:r>
            <a:r>
              <a:rPr lang="nb-NO" altLang="zh-CN" sz="1400" b="0" i="0" dirty="0">
                <a:solidFill>
                  <a:srgbClr val="393A34"/>
                </a:solidFill>
                <a:effectLst/>
                <a:latin typeface="ui-monospace"/>
              </a:rPr>
              <a:t> (</a:t>
            </a:r>
            <a:r>
              <a:rPr lang="nb-NO" altLang="zh-CN" sz="1400" b="0" i="0" dirty="0">
                <a:solidFill>
                  <a:srgbClr val="0000FF"/>
                </a:solidFill>
                <a:effectLst/>
                <a:latin typeface="ui-monospace"/>
              </a:rPr>
              <a:t>int</a:t>
            </a:r>
            <a:r>
              <a:rPr lang="nb-NO" altLang="zh-CN" sz="1400" b="0" i="0" dirty="0">
                <a:solidFill>
                  <a:srgbClr val="393A34"/>
                </a:solidFill>
                <a:effectLst/>
                <a:latin typeface="ui-monospace"/>
              </a:rPr>
              <a:t> i = </a:t>
            </a:r>
            <a:r>
              <a:rPr lang="nb-NO" altLang="zh-CN" sz="1400" b="0" i="0" dirty="0">
                <a:solidFill>
                  <a:srgbClr val="36ACAA"/>
                </a:solidFill>
                <a:effectLst/>
                <a:latin typeface="ui-monospace"/>
              </a:rPr>
              <a:t>0</a:t>
            </a:r>
            <a:r>
              <a:rPr lang="nb-NO" altLang="zh-CN" sz="1400" b="0" i="0" dirty="0">
                <a:solidFill>
                  <a:srgbClr val="393A34"/>
                </a:solidFill>
                <a:effectLst/>
                <a:latin typeface="ui-monospace"/>
              </a:rPr>
              <a:t>; i &lt; vertex_num; i++)</a:t>
            </a:r>
          </a:p>
          <a:p>
            <a:pPr algn="l" rtl="0" latinLnBrk="0">
              <a:lnSpc>
                <a:spcPts val="1500"/>
              </a:lnSpc>
              <a:spcBef>
                <a:spcPts val="600"/>
              </a:spcBef>
              <a:spcAft>
                <a:spcPts val="600"/>
              </a:spcAft>
            </a:pPr>
            <a:r>
              <a:rPr lang="nb-NO" altLang="zh-CN" sz="1400" b="0" i="0" dirty="0">
                <a:solidFill>
                  <a:srgbClr val="393A34"/>
                </a:solidFill>
                <a:effectLst/>
                <a:latin typeface="ui-monospace"/>
              </a:rPr>
              <a:t>    {</a:t>
            </a:r>
          </a:p>
          <a:p>
            <a:pPr algn="l" rtl="0" latinLnBrk="0">
              <a:lnSpc>
                <a:spcPts val="1500"/>
              </a:lnSpc>
              <a:spcBef>
                <a:spcPts val="600"/>
              </a:spcBef>
              <a:spcAft>
                <a:spcPts val="600"/>
              </a:spcAft>
            </a:pPr>
            <a:r>
              <a:rPr lang="nb-NO" altLang="zh-CN" sz="1400" b="0" i="0" dirty="0">
                <a:solidFill>
                  <a:srgbClr val="393A34"/>
                </a:solidFill>
                <a:effectLst/>
                <a:latin typeface="ui-monospace"/>
              </a:rPr>
              <a:t>        </a:t>
            </a:r>
            <a:r>
              <a:rPr lang="nb-NO" altLang="zh-CN" sz="1400" b="0" i="0" dirty="0">
                <a:solidFill>
                  <a:srgbClr val="0000FF"/>
                </a:solidFill>
                <a:effectLst/>
                <a:latin typeface="ui-monospace"/>
              </a:rPr>
              <a:t>if</a:t>
            </a:r>
            <a:r>
              <a:rPr lang="nb-NO" altLang="zh-CN" sz="1400" b="0" i="0" dirty="0">
                <a:solidFill>
                  <a:srgbClr val="393A34"/>
                </a:solidFill>
                <a:effectLst/>
                <a:latin typeface="ui-monospace"/>
              </a:rPr>
              <a:t> (distance[i] &lt; min &amp;&amp; found[i] == </a:t>
            </a:r>
            <a:r>
              <a:rPr lang="nb-NO" altLang="zh-CN" sz="1400" b="0" i="0" dirty="0">
                <a:solidFill>
                  <a:srgbClr val="36ACAA"/>
                </a:solidFill>
                <a:effectLst/>
                <a:latin typeface="ui-monospace"/>
              </a:rPr>
              <a:t>0</a:t>
            </a:r>
            <a:r>
              <a:rPr lang="nb-NO" altLang="zh-CN" sz="1400" b="0" i="0" dirty="0">
                <a:solidFill>
                  <a:srgbClr val="393A34"/>
                </a:solidFill>
                <a:effectLst/>
                <a:latin typeface="ui-monospace"/>
              </a:rPr>
              <a:t>)</a:t>
            </a:r>
          </a:p>
          <a:p>
            <a:pPr algn="l" rtl="0" latinLnBrk="0">
              <a:lnSpc>
                <a:spcPts val="1500"/>
              </a:lnSpc>
              <a:spcBef>
                <a:spcPts val="600"/>
              </a:spcBef>
              <a:spcAft>
                <a:spcPts val="600"/>
              </a:spcAft>
            </a:pPr>
            <a:r>
              <a:rPr lang="nb-NO" altLang="zh-CN" sz="1400" b="0" i="0" dirty="0">
                <a:solidFill>
                  <a:srgbClr val="393A34"/>
                </a:solidFill>
                <a:effectLst/>
                <a:latin typeface="ui-monospace"/>
              </a:rPr>
              <a:t>        {</a:t>
            </a:r>
          </a:p>
          <a:p>
            <a:pPr algn="l" rtl="0" latinLnBrk="0">
              <a:lnSpc>
                <a:spcPts val="1500"/>
              </a:lnSpc>
              <a:spcBef>
                <a:spcPts val="600"/>
              </a:spcBef>
              <a:spcAft>
                <a:spcPts val="600"/>
              </a:spcAft>
            </a:pPr>
            <a:r>
              <a:rPr lang="nb-NO" altLang="zh-CN" sz="1400" b="0" i="0" dirty="0">
                <a:solidFill>
                  <a:srgbClr val="393A34"/>
                </a:solidFill>
                <a:effectLst/>
                <a:latin typeface="ui-monospace"/>
              </a:rPr>
              <a:t>            min = distance[i];</a:t>
            </a:r>
          </a:p>
          <a:p>
            <a:pPr algn="l" rtl="0" latinLnBrk="0">
              <a:lnSpc>
                <a:spcPts val="1500"/>
              </a:lnSpc>
              <a:spcBef>
                <a:spcPts val="600"/>
              </a:spcBef>
              <a:spcAft>
                <a:spcPts val="600"/>
              </a:spcAft>
            </a:pPr>
            <a:r>
              <a:rPr lang="nb-NO" altLang="zh-CN" sz="1400" b="0" i="0" dirty="0">
                <a:solidFill>
                  <a:srgbClr val="393A34"/>
                </a:solidFill>
                <a:effectLst/>
                <a:latin typeface="ui-monospace"/>
              </a:rPr>
              <a:t>            minPos = i;</a:t>
            </a:r>
          </a:p>
          <a:p>
            <a:pPr algn="l" rtl="0" latinLnBrk="0">
              <a:lnSpc>
                <a:spcPts val="1500"/>
              </a:lnSpc>
              <a:spcBef>
                <a:spcPts val="600"/>
              </a:spcBef>
              <a:spcAft>
                <a:spcPts val="600"/>
              </a:spcAft>
            </a:pPr>
            <a:r>
              <a:rPr lang="nb-NO" altLang="zh-CN" sz="1400" b="0" i="0" dirty="0">
                <a:solidFill>
                  <a:srgbClr val="393A34"/>
                </a:solidFill>
                <a:effectLst/>
                <a:latin typeface="ui-monospace"/>
              </a:rPr>
              <a:t>        }</a:t>
            </a:r>
          </a:p>
          <a:p>
            <a:pPr algn="l" rtl="0" latinLnBrk="0">
              <a:lnSpc>
                <a:spcPts val="1500"/>
              </a:lnSpc>
              <a:spcBef>
                <a:spcPts val="600"/>
              </a:spcBef>
              <a:spcAft>
                <a:spcPts val="600"/>
              </a:spcAft>
            </a:pPr>
            <a:r>
              <a:rPr lang="nb-NO" altLang="zh-CN" sz="1400" b="0" i="0" dirty="0">
                <a:solidFill>
                  <a:srgbClr val="393A34"/>
                </a:solidFill>
                <a:effectLst/>
                <a:latin typeface="ui-monospace"/>
              </a:rPr>
              <a:t>    }</a:t>
            </a:r>
          </a:p>
          <a:p>
            <a:pPr algn="l" rtl="0" latinLnBrk="0">
              <a:lnSpc>
                <a:spcPts val="1500"/>
              </a:lnSpc>
              <a:spcBef>
                <a:spcPts val="600"/>
              </a:spcBef>
              <a:spcAft>
                <a:spcPts val="600"/>
              </a:spcAft>
            </a:pPr>
            <a:r>
              <a:rPr lang="nb-NO" altLang="zh-CN" sz="1400" b="0" i="0" dirty="0">
                <a:solidFill>
                  <a:srgbClr val="393A34"/>
                </a:solidFill>
                <a:effectLst/>
                <a:latin typeface="ui-monospace"/>
              </a:rPr>
              <a:t>    </a:t>
            </a:r>
            <a:r>
              <a:rPr lang="nb-NO" altLang="zh-CN" sz="1400" b="0" i="0" dirty="0">
                <a:solidFill>
                  <a:srgbClr val="0000FF"/>
                </a:solidFill>
                <a:effectLst/>
                <a:latin typeface="ui-monospace"/>
              </a:rPr>
              <a:t>return</a:t>
            </a:r>
            <a:r>
              <a:rPr lang="nb-NO" altLang="zh-CN" sz="1400" b="0" i="0" dirty="0">
                <a:solidFill>
                  <a:srgbClr val="393A34"/>
                </a:solidFill>
                <a:effectLst/>
                <a:latin typeface="ui-monospace"/>
              </a:rPr>
              <a:t> minPos;</a:t>
            </a:r>
          </a:p>
          <a:p>
            <a:pPr algn="l" rtl="0" latinLnBrk="0">
              <a:lnSpc>
                <a:spcPts val="1500"/>
              </a:lnSpc>
              <a:spcBef>
                <a:spcPts val="600"/>
              </a:spcBef>
              <a:spcAft>
                <a:spcPts val="600"/>
              </a:spcAft>
            </a:pPr>
            <a:r>
              <a:rPr lang="nb-NO" altLang="zh-CN" sz="1400" b="0" i="0" dirty="0">
                <a:solidFill>
                  <a:srgbClr val="393A34"/>
                </a:solidFill>
                <a:effectLst/>
                <a:latin typeface="ui-monospace"/>
              </a:rPr>
              <a:t>}</a:t>
            </a:r>
          </a:p>
        </p:txBody>
      </p:sp>
      <p:pic>
        <p:nvPicPr>
          <p:cNvPr id="9" name="图片 8">
            <a:extLst>
              <a:ext uri="{FF2B5EF4-FFF2-40B4-BE49-F238E27FC236}">
                <a16:creationId xmlns:a16="http://schemas.microsoft.com/office/drawing/2014/main" id="{51A3831E-09ED-09CA-EAD0-DBEEC995E21A}"/>
              </a:ext>
            </a:extLst>
          </p:cNvPr>
          <p:cNvPicPr>
            <a:picLocks noChangeAspect="1"/>
          </p:cNvPicPr>
          <p:nvPr/>
        </p:nvPicPr>
        <p:blipFill>
          <a:blip r:embed="rId5"/>
          <a:stretch>
            <a:fillRect/>
          </a:stretch>
        </p:blipFill>
        <p:spPr>
          <a:xfrm>
            <a:off x="8341710" y="1258804"/>
            <a:ext cx="3309962" cy="4794810"/>
          </a:xfrm>
          <a:prstGeom prst="rect">
            <a:avLst/>
          </a:prstGeom>
        </p:spPr>
      </p:pic>
      <p:sp>
        <p:nvSpPr>
          <p:cNvPr id="10" name="文本框 9">
            <a:extLst>
              <a:ext uri="{FF2B5EF4-FFF2-40B4-BE49-F238E27FC236}">
                <a16:creationId xmlns:a16="http://schemas.microsoft.com/office/drawing/2014/main" id="{39DD5C9F-83E3-76F7-E314-316AF39BF51A}"/>
              </a:ext>
            </a:extLst>
          </p:cNvPr>
          <p:cNvSpPr txBox="1"/>
          <p:nvPr/>
        </p:nvSpPr>
        <p:spPr>
          <a:xfrm>
            <a:off x="8341710" y="877071"/>
            <a:ext cx="3458547" cy="369332"/>
          </a:xfrm>
          <a:prstGeom prst="rect">
            <a:avLst/>
          </a:prstGeom>
          <a:noFill/>
        </p:spPr>
        <p:txBody>
          <a:bodyPr wrap="square" rtlCol="0">
            <a:spAutoFit/>
          </a:bodyPr>
          <a:lstStyle/>
          <a:p>
            <a:r>
              <a:rPr lang="zh-CN" altLang="en-US" dirty="0"/>
              <a:t>回溯并显示路径</a:t>
            </a:r>
          </a:p>
        </p:txBody>
      </p:sp>
    </p:spTree>
  </p:cSld>
  <p:clrMapOvr>
    <a:masterClrMapping/>
  </p:clrMapOvr>
  <p:transition spd="slow" advClick="0" advTm="2000">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5087"/>
            <a:ext cx="12192000" cy="954088"/>
          </a:xfrm>
          <a:prstGeom prst="rect">
            <a:avLst/>
          </a:prstGeom>
          <a:solidFill>
            <a:srgbClr val="1941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7" name="TextBox 59"/>
          <p:cNvSpPr txBox="1">
            <a:spLocks noChangeArrowheads="1"/>
          </p:cNvSpPr>
          <p:nvPr/>
        </p:nvSpPr>
        <p:spPr bwMode="auto">
          <a:xfrm>
            <a:off x="400050" y="187325"/>
            <a:ext cx="4510088" cy="461665"/>
          </a:xfrm>
          <a:prstGeom prst="rect">
            <a:avLst/>
          </a:prstGeom>
          <a:noFill/>
          <a:ln>
            <a:noFill/>
          </a:ln>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0" i="0" u="none" strike="noStrike" kern="1200" cap="none" spc="300" normalizeH="0" baseline="0" noProof="0" dirty="0">
                <a:ln>
                  <a:noFill/>
                </a:ln>
                <a:solidFill>
                  <a:schemeClr val="bg1"/>
                </a:solidFill>
                <a:effectLst/>
                <a:uLnTx/>
                <a:uFillTx/>
                <a:latin typeface="思源黑体 CN Light" panose="020B0300000000000000" pitchFamily="34" charset="-122"/>
                <a:ea typeface="思源黑体 CN Light" panose="020B0300000000000000" pitchFamily="34" charset="-122"/>
                <a:cs typeface="+mn-cs"/>
                <a:sym typeface="+mn-ea"/>
              </a:rPr>
              <a:t>课程设计</a:t>
            </a:r>
            <a:r>
              <a:rPr lang="zh-CN" altLang="en-US" sz="2400" spc="300" dirty="0">
                <a:solidFill>
                  <a:schemeClr val="bg1"/>
                </a:solidFill>
                <a:latin typeface="思源黑体 CN Light" panose="020B0300000000000000" pitchFamily="34" charset="-122"/>
                <a:ea typeface="思源黑体 CN Light" panose="020B0300000000000000" pitchFamily="34" charset="-122"/>
                <a:sym typeface="+mn-ea"/>
              </a:rPr>
              <a:t>的实现方法</a:t>
            </a:r>
            <a:endParaRPr kumimoji="0" lang="zh-CN" altLang="en-US" sz="2400" b="0" i="0" u="none" strike="noStrike" kern="1200" cap="none" spc="300" normalizeH="0" baseline="0" noProof="0" dirty="0">
              <a:ln>
                <a:noFill/>
              </a:ln>
              <a:solidFill>
                <a:schemeClr val="bg1"/>
              </a:solidFill>
              <a:effectLst/>
              <a:uLnTx/>
              <a:uFillTx/>
              <a:latin typeface="思源黑体 CN Light" panose="020B0300000000000000" pitchFamily="34" charset="-122"/>
              <a:ea typeface="思源黑体 CN Light" panose="020B0300000000000000" pitchFamily="34" charset="-122"/>
              <a:cs typeface="+mn-cs"/>
              <a:sym typeface="+mn-ea"/>
            </a:endParaRPr>
          </a:p>
        </p:txBody>
      </p:sp>
      <p:graphicFrame>
        <p:nvGraphicFramePr>
          <p:cNvPr id="13316" name="对象 15"/>
          <p:cNvGraphicFramePr>
            <a:graphicFrameLocks noChangeAspect="1"/>
          </p:cNvGraphicFramePr>
          <p:nvPr/>
        </p:nvGraphicFramePr>
        <p:xfrm>
          <a:off x="9486265" y="6053614"/>
          <a:ext cx="2474595" cy="692785"/>
        </p:xfrm>
        <a:graphic>
          <a:graphicData uri="http://schemas.openxmlformats.org/presentationml/2006/ole">
            <mc:AlternateContent xmlns:mc="http://schemas.openxmlformats.org/markup-compatibility/2006">
              <mc:Choice xmlns:v="urn:schemas-microsoft-com:vml" Requires="v">
                <p:oleObj r:id="rId3" imgW="5276850" imgH="1397000" progId="Word.Document.8">
                  <p:embed/>
                </p:oleObj>
              </mc:Choice>
              <mc:Fallback>
                <p:oleObj r:id="rId3" imgW="5276850" imgH="1397000" progId="Word.Document.8">
                  <p:embed/>
                  <p:pic>
                    <p:nvPicPr>
                      <p:cNvPr id="0" name="图片 3083"/>
                      <p:cNvPicPr/>
                      <p:nvPr/>
                    </p:nvPicPr>
                    <p:blipFill>
                      <a:blip r:embed="rId4"/>
                      <a:stretch>
                        <a:fillRect/>
                      </a:stretch>
                    </p:blipFill>
                    <p:spPr>
                      <a:xfrm>
                        <a:off x="9486265" y="6053614"/>
                        <a:ext cx="2474595" cy="692785"/>
                      </a:xfrm>
                      <a:prstGeom prst="rect">
                        <a:avLst/>
                      </a:prstGeom>
                      <a:noFill/>
                      <a:ln w="38100">
                        <a:noFill/>
                        <a:miter/>
                      </a:ln>
                    </p:spPr>
                  </p:pic>
                </p:oleObj>
              </mc:Fallback>
            </mc:AlternateContent>
          </a:graphicData>
        </a:graphic>
      </p:graphicFrame>
      <p:sp>
        <p:nvSpPr>
          <p:cNvPr id="5" name="文本框 4"/>
          <p:cNvSpPr txBox="1"/>
          <p:nvPr/>
        </p:nvSpPr>
        <p:spPr>
          <a:xfrm>
            <a:off x="400051" y="975994"/>
            <a:ext cx="4097304" cy="5770405"/>
          </a:xfrm>
          <a:prstGeom prst="rect">
            <a:avLst/>
          </a:prstGeom>
          <a:noFill/>
        </p:spPr>
        <p:txBody>
          <a:bodyPr wrap="square" rtlCol="0">
            <a:noAutofit/>
          </a:bodyPr>
          <a:lstStyle/>
          <a:p>
            <a:r>
              <a:rPr lang="zh-CN" altLang="en-US" sz="1200" b="1" dirty="0"/>
              <a:t>业务功能实现</a:t>
            </a:r>
          </a:p>
          <a:p>
            <a:pPr fontAlgn="t"/>
            <a:r>
              <a:rPr lang="zh-CN" altLang="en-US" sz="1200" b="1" dirty="0"/>
              <a:t>查询两个城市之间的最短路径</a:t>
            </a:r>
            <a:endParaRPr lang="zh-CN" altLang="en-US" sz="1200" dirty="0"/>
          </a:p>
          <a:p>
            <a:r>
              <a:rPr lang="nb-NO" altLang="zh-CN" sz="1200" dirty="0"/>
              <a:t>void Dijkstra(AMGraph G, char c1[], char c2[])</a:t>
            </a:r>
          </a:p>
          <a:p>
            <a:r>
              <a:rPr lang="nb-NO" altLang="zh-CN" sz="1200" dirty="0"/>
              <a:t>{</a:t>
            </a:r>
          </a:p>
          <a:p>
            <a:r>
              <a:rPr lang="nb-NO" altLang="zh-CN" sz="1200" dirty="0"/>
              <a:t>    int begin = LocateVex(G, c1);</a:t>
            </a:r>
          </a:p>
          <a:p>
            <a:r>
              <a:rPr lang="nb-NO" altLang="zh-CN" sz="1200" dirty="0"/>
              <a:t>    int end = LocateVex(G, c2);</a:t>
            </a:r>
          </a:p>
          <a:p>
            <a:endParaRPr lang="nb-NO" altLang="zh-CN" sz="1200" dirty="0"/>
          </a:p>
          <a:p>
            <a:r>
              <a:rPr lang="nb-NO" altLang="zh-CN" sz="1200" dirty="0"/>
              <a:t>    if (begin == -1 || end == -1)</a:t>
            </a:r>
          </a:p>
          <a:p>
            <a:r>
              <a:rPr lang="nb-NO" altLang="zh-CN" sz="1200" dirty="0"/>
              <a:t>    {</a:t>
            </a:r>
          </a:p>
          <a:p>
            <a:r>
              <a:rPr lang="nb-NO" altLang="zh-CN" sz="1200" dirty="0"/>
              <a:t>        printf("</a:t>
            </a:r>
            <a:r>
              <a:rPr lang="zh-CN" altLang="en-US" sz="1200" dirty="0"/>
              <a:t>城市名称输入错误！</a:t>
            </a:r>
            <a:r>
              <a:rPr lang="en-US" altLang="zh-CN" sz="1200" dirty="0"/>
              <a:t>\</a:t>
            </a:r>
            <a:r>
              <a:rPr lang="nb-NO" altLang="zh-CN" sz="1200" dirty="0"/>
              <a:t>n");</a:t>
            </a:r>
          </a:p>
          <a:p>
            <a:r>
              <a:rPr lang="nb-NO" altLang="zh-CN" sz="1200" dirty="0"/>
              <a:t>        return;</a:t>
            </a:r>
          </a:p>
          <a:p>
            <a:r>
              <a:rPr lang="nb-NO" altLang="zh-CN" sz="1200" dirty="0"/>
              <a:t>    }</a:t>
            </a:r>
          </a:p>
          <a:p>
            <a:endParaRPr lang="nb-NO" altLang="zh-CN" sz="1200" dirty="0"/>
          </a:p>
          <a:p>
            <a:r>
              <a:rPr lang="nb-NO" altLang="zh-CN" sz="1200" dirty="0"/>
              <a:t>    int distance[MAXSIZE];</a:t>
            </a:r>
          </a:p>
          <a:p>
            <a:r>
              <a:rPr lang="nb-NO" altLang="zh-CN" sz="1200" dirty="0"/>
              <a:t>    int path[MAXSIZE];</a:t>
            </a:r>
          </a:p>
          <a:p>
            <a:endParaRPr lang="nb-NO" altLang="zh-CN" sz="1200" dirty="0"/>
          </a:p>
          <a:p>
            <a:r>
              <a:rPr lang="nb-NO" altLang="zh-CN" sz="1200" dirty="0"/>
              <a:t>    DijkstraCore(G, begin, distance, path);</a:t>
            </a:r>
          </a:p>
          <a:p>
            <a:endParaRPr lang="nb-NO" altLang="zh-CN" sz="1200" dirty="0"/>
          </a:p>
          <a:p>
            <a:r>
              <a:rPr lang="nb-NO" altLang="zh-CN" sz="1200" dirty="0"/>
              <a:t>    </a:t>
            </a:r>
            <a:r>
              <a:rPr lang="nb-NO" altLang="zh-CN" sz="1200" i="1" dirty="0"/>
              <a:t>// </a:t>
            </a:r>
            <a:r>
              <a:rPr lang="zh-CN" altLang="en-US" sz="1200" i="1" dirty="0"/>
              <a:t>输出结果</a:t>
            </a:r>
            <a:endParaRPr lang="zh-CN" altLang="en-US" sz="1200" dirty="0"/>
          </a:p>
          <a:p>
            <a:r>
              <a:rPr lang="zh-CN" altLang="en-US" sz="1200" dirty="0"/>
              <a:t>    </a:t>
            </a:r>
            <a:r>
              <a:rPr lang="nb-NO" altLang="zh-CN" sz="1200" dirty="0"/>
              <a:t>if (distance[end] == INFINITY)</a:t>
            </a:r>
          </a:p>
          <a:p>
            <a:r>
              <a:rPr lang="nb-NO" altLang="zh-CN" sz="1200" dirty="0"/>
              <a:t>    {</a:t>
            </a:r>
          </a:p>
          <a:p>
            <a:r>
              <a:rPr lang="nb-NO" altLang="zh-CN" sz="1200" dirty="0"/>
              <a:t>        printf("%s-&gt;%s</a:t>
            </a:r>
            <a:r>
              <a:rPr lang="zh-CN" altLang="en-US" sz="1200" dirty="0"/>
              <a:t>之间没有路径！</a:t>
            </a:r>
            <a:r>
              <a:rPr lang="en-US" altLang="zh-CN" sz="1200" dirty="0"/>
              <a:t>\</a:t>
            </a:r>
            <a:r>
              <a:rPr lang="nb-NO" altLang="zh-CN" sz="1200" dirty="0"/>
              <a:t>n", c1, c2);</a:t>
            </a:r>
          </a:p>
          <a:p>
            <a:r>
              <a:rPr lang="nb-NO" altLang="zh-CN" sz="1200" dirty="0"/>
              <a:t>    }</a:t>
            </a:r>
          </a:p>
          <a:p>
            <a:r>
              <a:rPr lang="nb-NO" altLang="zh-CN" sz="1200" dirty="0"/>
              <a:t>    else</a:t>
            </a:r>
          </a:p>
          <a:p>
            <a:r>
              <a:rPr lang="nb-NO" altLang="zh-CN" sz="1200" dirty="0"/>
              <a:t>    {</a:t>
            </a:r>
          </a:p>
          <a:p>
            <a:r>
              <a:rPr lang="nb-NO" altLang="zh-CN" sz="1200" dirty="0"/>
              <a:t>        printf("%s-&gt;%s</a:t>
            </a:r>
            <a:r>
              <a:rPr lang="zh-CN" altLang="en-US" sz="1200" dirty="0"/>
              <a:t>的最短距离为</a:t>
            </a:r>
            <a:r>
              <a:rPr lang="en-US" altLang="zh-CN" sz="1200" dirty="0"/>
              <a:t>%</a:t>
            </a:r>
            <a:r>
              <a:rPr lang="nb-NO" altLang="zh-CN" sz="1200" dirty="0"/>
              <a:t>d\n", c1, c2, distance[end]);</a:t>
            </a:r>
          </a:p>
          <a:p>
            <a:r>
              <a:rPr lang="nb-NO" altLang="zh-CN" sz="1200" dirty="0"/>
              <a:t>        DisplayPath(G, begin, end, path);</a:t>
            </a:r>
          </a:p>
          <a:p>
            <a:r>
              <a:rPr lang="nb-NO" altLang="zh-CN" sz="1200" dirty="0"/>
              <a:t>    }</a:t>
            </a:r>
          </a:p>
          <a:p>
            <a:r>
              <a:rPr lang="nb-NO" altLang="zh-CN" sz="1200" dirty="0"/>
              <a:t>}</a:t>
            </a:r>
          </a:p>
        </p:txBody>
      </p:sp>
      <p:sp>
        <p:nvSpPr>
          <p:cNvPr id="3" name="文本框 2">
            <a:extLst>
              <a:ext uri="{FF2B5EF4-FFF2-40B4-BE49-F238E27FC236}">
                <a16:creationId xmlns:a16="http://schemas.microsoft.com/office/drawing/2014/main" id="{DEFD3911-67F6-8271-5F82-AD2B644BC0D0}"/>
              </a:ext>
            </a:extLst>
          </p:cNvPr>
          <p:cNvSpPr txBox="1"/>
          <p:nvPr/>
        </p:nvSpPr>
        <p:spPr>
          <a:xfrm>
            <a:off x="3943810" y="1043233"/>
            <a:ext cx="6096000" cy="361637"/>
          </a:xfrm>
          <a:prstGeom prst="rect">
            <a:avLst/>
          </a:prstGeom>
          <a:noFill/>
        </p:spPr>
        <p:txBody>
          <a:bodyPr wrap="square">
            <a:spAutoFit/>
          </a:bodyPr>
          <a:lstStyle/>
          <a:p>
            <a:pPr algn="l" fontAlgn="t">
              <a:lnSpc>
                <a:spcPts val="2100"/>
              </a:lnSpc>
              <a:spcBef>
                <a:spcPts val="600"/>
              </a:spcBef>
              <a:spcAft>
                <a:spcPts val="600"/>
              </a:spcAft>
            </a:pPr>
            <a:r>
              <a:rPr lang="zh-CN" altLang="en-US" sz="1600" b="1" i="0" dirty="0">
                <a:solidFill>
                  <a:srgbClr val="111133"/>
                </a:solidFill>
                <a:effectLst/>
                <a:latin typeface="-apple-system"/>
              </a:rPr>
              <a:t>查询某个城市到所有其他城市的最短距离</a:t>
            </a:r>
            <a:endParaRPr lang="zh-CN" altLang="en-US" sz="1600" b="0" i="0" dirty="0">
              <a:solidFill>
                <a:srgbClr val="1F2328"/>
              </a:solidFill>
              <a:effectLst/>
              <a:latin typeface="ui-monospace"/>
            </a:endParaRPr>
          </a:p>
        </p:txBody>
      </p:sp>
      <p:pic>
        <p:nvPicPr>
          <p:cNvPr id="7" name="图片 6">
            <a:extLst>
              <a:ext uri="{FF2B5EF4-FFF2-40B4-BE49-F238E27FC236}">
                <a16:creationId xmlns:a16="http://schemas.microsoft.com/office/drawing/2014/main" id="{01D176DD-4EB7-636C-C620-9B994C6BA6B2}"/>
              </a:ext>
            </a:extLst>
          </p:cNvPr>
          <p:cNvPicPr>
            <a:picLocks noChangeAspect="1"/>
          </p:cNvPicPr>
          <p:nvPr/>
        </p:nvPicPr>
        <p:blipFill>
          <a:blip r:embed="rId5"/>
          <a:stretch>
            <a:fillRect/>
          </a:stretch>
        </p:blipFill>
        <p:spPr>
          <a:xfrm>
            <a:off x="3943810" y="1491863"/>
            <a:ext cx="3707292" cy="4137606"/>
          </a:xfrm>
          <a:prstGeom prst="rect">
            <a:avLst/>
          </a:prstGeom>
        </p:spPr>
      </p:pic>
      <p:sp>
        <p:nvSpPr>
          <p:cNvPr id="9" name="文本框 8">
            <a:extLst>
              <a:ext uri="{FF2B5EF4-FFF2-40B4-BE49-F238E27FC236}">
                <a16:creationId xmlns:a16="http://schemas.microsoft.com/office/drawing/2014/main" id="{4F6F33F8-308A-7038-2A98-88E9FEABCEDB}"/>
              </a:ext>
            </a:extLst>
          </p:cNvPr>
          <p:cNvSpPr txBox="1"/>
          <p:nvPr/>
        </p:nvSpPr>
        <p:spPr>
          <a:xfrm>
            <a:off x="8041114" y="1122531"/>
            <a:ext cx="6096000" cy="369332"/>
          </a:xfrm>
          <a:prstGeom prst="rect">
            <a:avLst/>
          </a:prstGeom>
          <a:noFill/>
        </p:spPr>
        <p:txBody>
          <a:bodyPr wrap="square">
            <a:spAutoFit/>
          </a:bodyPr>
          <a:lstStyle/>
          <a:p>
            <a:r>
              <a:rPr lang="zh-CN" altLang="en-US" b="1" i="0" dirty="0">
                <a:solidFill>
                  <a:srgbClr val="111133"/>
                </a:solidFill>
                <a:effectLst/>
                <a:latin typeface="-apple-system"/>
              </a:rPr>
              <a:t>显示城市距离邻接矩阵</a:t>
            </a:r>
            <a:endParaRPr lang="zh-CN" altLang="en-US" dirty="0"/>
          </a:p>
        </p:txBody>
      </p:sp>
      <p:pic>
        <p:nvPicPr>
          <p:cNvPr id="11" name="图片 10">
            <a:extLst>
              <a:ext uri="{FF2B5EF4-FFF2-40B4-BE49-F238E27FC236}">
                <a16:creationId xmlns:a16="http://schemas.microsoft.com/office/drawing/2014/main" id="{309DF066-FC41-8C06-5969-D4DF9C912ECD}"/>
              </a:ext>
            </a:extLst>
          </p:cNvPr>
          <p:cNvPicPr>
            <a:picLocks noChangeAspect="1"/>
          </p:cNvPicPr>
          <p:nvPr/>
        </p:nvPicPr>
        <p:blipFill>
          <a:blip r:embed="rId6"/>
          <a:stretch>
            <a:fillRect/>
          </a:stretch>
        </p:blipFill>
        <p:spPr>
          <a:xfrm>
            <a:off x="8094450" y="1559102"/>
            <a:ext cx="3214251" cy="3286596"/>
          </a:xfrm>
          <a:prstGeom prst="rect">
            <a:avLst/>
          </a:prstGeom>
        </p:spPr>
      </p:pic>
    </p:spTree>
  </p:cSld>
  <p:clrMapOvr>
    <a:masterClrMapping/>
  </p:clrMapOvr>
  <p:transition spd="slow" advClick="0" advTm="2000">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5087"/>
            <a:ext cx="12192000" cy="954088"/>
          </a:xfrm>
          <a:prstGeom prst="rect">
            <a:avLst/>
          </a:prstGeom>
          <a:solidFill>
            <a:srgbClr val="1941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文本框 1"/>
          <p:cNvSpPr txBox="1"/>
          <p:nvPr/>
        </p:nvSpPr>
        <p:spPr>
          <a:xfrm>
            <a:off x="229869" y="227965"/>
            <a:ext cx="6009199" cy="523220"/>
          </a:xfrm>
          <a:prstGeom prst="rect">
            <a:avLst/>
          </a:prstGeom>
          <a:noFill/>
        </p:spPr>
        <p:txBody>
          <a:bodyPr wrap="square" rtlCol="0">
            <a:spAutoFit/>
          </a:bodyPr>
          <a:lstStyle/>
          <a:p>
            <a:r>
              <a:rPr lang="zh-CN" altLang="en-US" sz="2800" dirty="0">
                <a:solidFill>
                  <a:schemeClr val="bg1"/>
                </a:solidFill>
              </a:rPr>
              <a:t>北斗卫星导航系统程序图</a:t>
            </a:r>
          </a:p>
        </p:txBody>
      </p:sp>
      <p:pic>
        <p:nvPicPr>
          <p:cNvPr id="6" name="图片 5">
            <a:extLst>
              <a:ext uri="{FF2B5EF4-FFF2-40B4-BE49-F238E27FC236}">
                <a16:creationId xmlns:a16="http://schemas.microsoft.com/office/drawing/2014/main" id="{D9E75553-660A-658C-928F-780772941F17}"/>
              </a:ext>
            </a:extLst>
          </p:cNvPr>
          <p:cNvPicPr>
            <a:picLocks noChangeAspect="1"/>
          </p:cNvPicPr>
          <p:nvPr/>
        </p:nvPicPr>
        <p:blipFill>
          <a:blip r:embed="rId2"/>
          <a:stretch>
            <a:fillRect/>
          </a:stretch>
        </p:blipFill>
        <p:spPr>
          <a:xfrm>
            <a:off x="436875" y="1090993"/>
            <a:ext cx="3239386" cy="2989595"/>
          </a:xfrm>
          <a:prstGeom prst="rect">
            <a:avLst/>
          </a:prstGeom>
        </p:spPr>
      </p:pic>
      <p:pic>
        <p:nvPicPr>
          <p:cNvPr id="8" name="图片 7">
            <a:extLst>
              <a:ext uri="{FF2B5EF4-FFF2-40B4-BE49-F238E27FC236}">
                <a16:creationId xmlns:a16="http://schemas.microsoft.com/office/drawing/2014/main" id="{5D49FBF3-DB7D-3160-4616-BFE82E55E38D}"/>
              </a:ext>
            </a:extLst>
          </p:cNvPr>
          <p:cNvPicPr>
            <a:picLocks noChangeAspect="1"/>
          </p:cNvPicPr>
          <p:nvPr/>
        </p:nvPicPr>
        <p:blipFill>
          <a:blip r:embed="rId3"/>
          <a:stretch>
            <a:fillRect/>
          </a:stretch>
        </p:blipFill>
        <p:spPr>
          <a:xfrm>
            <a:off x="3819415" y="1090993"/>
            <a:ext cx="3956095" cy="1117252"/>
          </a:xfrm>
          <a:prstGeom prst="rect">
            <a:avLst/>
          </a:prstGeom>
        </p:spPr>
      </p:pic>
      <p:pic>
        <p:nvPicPr>
          <p:cNvPr id="10" name="图片 9">
            <a:extLst>
              <a:ext uri="{FF2B5EF4-FFF2-40B4-BE49-F238E27FC236}">
                <a16:creationId xmlns:a16="http://schemas.microsoft.com/office/drawing/2014/main" id="{C3C85EF9-B11B-FFBB-AEAF-B57608E37AB5}"/>
              </a:ext>
            </a:extLst>
          </p:cNvPr>
          <p:cNvPicPr>
            <a:picLocks noChangeAspect="1"/>
          </p:cNvPicPr>
          <p:nvPr/>
        </p:nvPicPr>
        <p:blipFill>
          <a:blip r:embed="rId4"/>
          <a:stretch>
            <a:fillRect/>
          </a:stretch>
        </p:blipFill>
        <p:spPr>
          <a:xfrm>
            <a:off x="3819415" y="2273645"/>
            <a:ext cx="3956095" cy="3094567"/>
          </a:xfrm>
          <a:prstGeom prst="rect">
            <a:avLst/>
          </a:prstGeom>
        </p:spPr>
      </p:pic>
      <p:pic>
        <p:nvPicPr>
          <p:cNvPr id="12" name="图片 11">
            <a:extLst>
              <a:ext uri="{FF2B5EF4-FFF2-40B4-BE49-F238E27FC236}">
                <a16:creationId xmlns:a16="http://schemas.microsoft.com/office/drawing/2014/main" id="{DA519BF9-0517-73AA-8F48-96F64B873745}"/>
              </a:ext>
            </a:extLst>
          </p:cNvPr>
          <p:cNvPicPr>
            <a:picLocks noChangeAspect="1"/>
          </p:cNvPicPr>
          <p:nvPr/>
        </p:nvPicPr>
        <p:blipFill>
          <a:blip r:embed="rId5"/>
          <a:stretch>
            <a:fillRect/>
          </a:stretch>
        </p:blipFill>
        <p:spPr>
          <a:xfrm>
            <a:off x="7976156" y="1090992"/>
            <a:ext cx="3119460" cy="33565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5087"/>
            <a:ext cx="12192000" cy="954088"/>
          </a:xfrm>
          <a:prstGeom prst="rect">
            <a:avLst/>
          </a:prstGeom>
          <a:solidFill>
            <a:srgbClr val="1941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文本框 1"/>
          <p:cNvSpPr txBox="1"/>
          <p:nvPr/>
        </p:nvSpPr>
        <p:spPr>
          <a:xfrm>
            <a:off x="229869" y="227965"/>
            <a:ext cx="5760383" cy="523220"/>
          </a:xfrm>
          <a:prstGeom prst="rect">
            <a:avLst/>
          </a:prstGeom>
          <a:noFill/>
        </p:spPr>
        <p:txBody>
          <a:bodyPr wrap="square" rtlCol="0">
            <a:spAutoFit/>
          </a:bodyPr>
          <a:lstStyle/>
          <a:p>
            <a:r>
              <a:rPr lang="zh-CN" altLang="en-US" sz="2800" dirty="0">
                <a:solidFill>
                  <a:schemeClr val="bg1"/>
                </a:solidFill>
              </a:rPr>
              <a:t>北斗卫星导航系统程序图</a:t>
            </a:r>
          </a:p>
        </p:txBody>
      </p:sp>
      <p:pic>
        <p:nvPicPr>
          <p:cNvPr id="14" name="图片 13">
            <a:extLst>
              <a:ext uri="{FF2B5EF4-FFF2-40B4-BE49-F238E27FC236}">
                <a16:creationId xmlns:a16="http://schemas.microsoft.com/office/drawing/2014/main" id="{19072DEA-5306-226B-2896-ACA0C7D33928}"/>
              </a:ext>
            </a:extLst>
          </p:cNvPr>
          <p:cNvPicPr>
            <a:picLocks noChangeAspect="1"/>
          </p:cNvPicPr>
          <p:nvPr/>
        </p:nvPicPr>
        <p:blipFill>
          <a:blip r:embed="rId2"/>
          <a:stretch>
            <a:fillRect/>
          </a:stretch>
        </p:blipFill>
        <p:spPr>
          <a:xfrm>
            <a:off x="338301" y="1241499"/>
            <a:ext cx="6700886" cy="32434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组合 8"/>
          <p:cNvGrpSpPr/>
          <p:nvPr/>
        </p:nvGrpSpPr>
        <p:grpSpPr>
          <a:xfrm>
            <a:off x="-3414712" y="-1201737"/>
            <a:ext cx="9261475" cy="9261475"/>
            <a:chOff x="-3415386" y="-1202003"/>
            <a:chExt cx="9262006" cy="9262006"/>
          </a:xfrm>
        </p:grpSpPr>
        <p:sp>
          <p:nvSpPr>
            <p:cNvPr id="2" name="椭圆 1"/>
            <p:cNvSpPr/>
            <p:nvPr/>
          </p:nvSpPr>
          <p:spPr>
            <a:xfrm>
              <a:off x="-3042302" y="-828919"/>
              <a:ext cx="8515837" cy="8515837"/>
            </a:xfrm>
            <a:prstGeom prst="ellipse">
              <a:avLst/>
            </a:prstGeom>
            <a:solidFill>
              <a:srgbClr val="1941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椭圆 2"/>
            <p:cNvSpPr/>
            <p:nvPr/>
          </p:nvSpPr>
          <p:spPr>
            <a:xfrm>
              <a:off x="-3415386" y="-1202003"/>
              <a:ext cx="9262006" cy="9262006"/>
            </a:xfrm>
            <a:prstGeom prst="ellipse">
              <a:avLst/>
            </a:prstGeom>
            <a:noFill/>
            <a:ln>
              <a:solidFill>
                <a:srgbClr val="19418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文本框 3"/>
            <p:cNvSpPr txBox="1"/>
            <p:nvPr/>
          </p:nvSpPr>
          <p:spPr>
            <a:xfrm>
              <a:off x="199559" y="2920971"/>
              <a:ext cx="4969159" cy="101605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zh-CN" sz="6000" kern="1200" cap="none" spc="300" normalizeH="0" baseline="0" noProof="0" dirty="0">
                  <a:solidFill>
                    <a:schemeClr val="bg2"/>
                  </a:solidFill>
                  <a:latin typeface="+mn-lt"/>
                  <a:ea typeface="+mn-ea"/>
                  <a:cs typeface="+mn-cs"/>
                </a:rPr>
                <a:t>PART THREE</a:t>
              </a:r>
              <a:endParaRPr kumimoji="0" lang="zh-CN" altLang="en-US" sz="6000" kern="1200" cap="none" spc="300" normalizeH="0" baseline="0" noProof="0" dirty="0">
                <a:solidFill>
                  <a:schemeClr val="bg2"/>
                </a:solidFill>
                <a:latin typeface="+mn-lt"/>
                <a:ea typeface="+mn-ea"/>
                <a:cs typeface="+mn-cs"/>
              </a:endParaRPr>
            </a:p>
          </p:txBody>
        </p:sp>
        <p:cxnSp>
          <p:nvCxnSpPr>
            <p:cNvPr id="5" name="直接连接符 4"/>
            <p:cNvCxnSpPr/>
            <p:nvPr/>
          </p:nvCxnSpPr>
          <p:spPr>
            <a:xfrm flipH="1">
              <a:off x="359906" y="4149766"/>
              <a:ext cx="2697316" cy="0"/>
            </a:xfrm>
            <a:prstGeom prst="line">
              <a:avLst/>
            </a:prstGeom>
            <a:ln w="12700">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a:off x="359906" y="4430770"/>
              <a:ext cx="1547901" cy="0"/>
            </a:xfrm>
            <a:prstGeom prst="line">
              <a:avLst/>
            </a:prstGeom>
            <a:ln w="12700">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sp>
          <p:nvSpPr>
            <p:cNvPr id="7" name="等腰三角形 6"/>
            <p:cNvSpPr/>
            <p:nvPr/>
          </p:nvSpPr>
          <p:spPr>
            <a:xfrm rot="5400000" flipH="1">
              <a:off x="4951220" y="3332157"/>
              <a:ext cx="233375" cy="20162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8" name="TextBox 59"/>
          <p:cNvSpPr txBox="1">
            <a:spLocks noChangeArrowheads="1"/>
          </p:cNvSpPr>
          <p:nvPr/>
        </p:nvSpPr>
        <p:spPr bwMode="auto">
          <a:xfrm>
            <a:off x="6318250" y="1344613"/>
            <a:ext cx="6007100" cy="922020"/>
          </a:xfrm>
          <a:prstGeom prst="rect">
            <a:avLst/>
          </a:prstGeom>
          <a:noFill/>
          <a:ln>
            <a:noFill/>
          </a:ln>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5400" b="0" i="0" u="none" strike="noStrike" kern="1200" cap="none" spc="300" normalizeH="0" baseline="0" noProof="0" dirty="0">
                <a:ln>
                  <a:noFill/>
                </a:ln>
                <a:solidFill>
                  <a:srgbClr val="194189"/>
                </a:solidFill>
                <a:effectLst/>
                <a:uLnTx/>
                <a:uFillTx/>
                <a:latin typeface="思源黑体 CN Regular" panose="020B0500000000000000" pitchFamily="34" charset="-122"/>
                <a:ea typeface="思源黑体 CN Regular" panose="020B0500000000000000" pitchFamily="34" charset="-122"/>
                <a:cs typeface="+mn-cs"/>
              </a:rPr>
              <a:t>课程设计总结</a:t>
            </a:r>
          </a:p>
        </p:txBody>
      </p:sp>
      <p:grpSp>
        <p:nvGrpSpPr>
          <p:cNvPr id="13" name="组合 12"/>
          <p:cNvGrpSpPr/>
          <p:nvPr/>
        </p:nvGrpSpPr>
        <p:grpSpPr>
          <a:xfrm>
            <a:off x="6548665" y="4447043"/>
            <a:ext cx="172819" cy="172819"/>
            <a:chOff x="4971660" y="1569718"/>
            <a:chExt cx="144016" cy="144016"/>
          </a:xfrm>
          <a:solidFill>
            <a:srgbClr val="194189"/>
          </a:solidFill>
        </p:grpSpPr>
        <p:sp>
          <p:nvSpPr>
            <p:cNvPr id="14" name="椭圆 13"/>
            <p:cNvSpPr/>
            <p:nvPr/>
          </p:nvSpPr>
          <p:spPr>
            <a:xfrm>
              <a:off x="4971660" y="1569718"/>
              <a:ext cx="144016" cy="14401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615" b="0" i="0" u="none" strike="noStrike" kern="1200" cap="none" spc="0" normalizeH="0" baseline="0" noProof="0">
                <a:ln>
                  <a:noFill/>
                </a:ln>
                <a:solidFill>
                  <a:schemeClr val="lt1"/>
                </a:solidFill>
                <a:effectLst/>
                <a:uLnTx/>
                <a:uFillTx/>
                <a:latin typeface="+mn-lt"/>
                <a:ea typeface="+mn-ea"/>
                <a:cs typeface="+mn-cs"/>
              </a:endParaRPr>
            </a:p>
          </p:txBody>
        </p:sp>
        <p:sp>
          <p:nvSpPr>
            <p:cNvPr id="15" name="椭圆 14"/>
            <p:cNvSpPr/>
            <p:nvPr/>
          </p:nvSpPr>
          <p:spPr>
            <a:xfrm>
              <a:off x="5005748" y="1603806"/>
              <a:ext cx="75840" cy="758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615" b="0" i="0" u="none" strike="noStrike" kern="1200" cap="none" spc="0" normalizeH="0" baseline="0" noProof="0">
                <a:ln>
                  <a:noFill/>
                </a:ln>
                <a:solidFill>
                  <a:schemeClr val="lt1"/>
                </a:solidFill>
                <a:effectLst/>
                <a:uLnTx/>
                <a:uFillTx/>
                <a:latin typeface="+mn-lt"/>
                <a:ea typeface="+mn-ea"/>
                <a:cs typeface="+mn-cs"/>
              </a:endParaRPr>
            </a:p>
          </p:txBody>
        </p:sp>
      </p:grpSp>
      <p:sp>
        <p:nvSpPr>
          <p:cNvPr id="17" name="TextBox 42"/>
          <p:cNvSpPr txBox="1"/>
          <p:nvPr/>
        </p:nvSpPr>
        <p:spPr>
          <a:xfrm>
            <a:off x="7121525" y="4386263"/>
            <a:ext cx="2246313" cy="294640"/>
          </a:xfrm>
          <a:prstGeom prst="rect">
            <a:avLst/>
          </a:prstGeom>
          <a:noFill/>
        </p:spPr>
        <p:txBody>
          <a:bodyPr lIns="0" tIns="0" rIns="0" bIns="0">
            <a:spAutoFit/>
          </a:bodyPr>
          <a:lstStyle/>
          <a:p>
            <a:pPr marR="0" defTabSz="914400" eaLnBrk="1" fontAlgn="auto" hangingPunct="1">
              <a:spcBef>
                <a:spcPts val="0"/>
              </a:spcBef>
              <a:spcAft>
                <a:spcPts val="0"/>
              </a:spcAft>
              <a:buClrTx/>
              <a:buSzTx/>
              <a:buFontTx/>
              <a:buNone/>
              <a:defRPr/>
            </a:pPr>
            <a:r>
              <a:rPr lang="zh-CN" altLang="en-US" sz="1920" dirty="0">
                <a:solidFill>
                  <a:schemeClr val="tx1"/>
                </a:solidFill>
                <a:latin typeface="思源黑体 CN Regular"/>
                <a:ea typeface="思源黑体 CN Regular"/>
                <a:sym typeface="+mn-ea"/>
              </a:rPr>
              <a:t>课程设计简短的总结</a:t>
            </a:r>
            <a:endParaRPr kumimoji="0" lang="zh-CN" altLang="en-US" sz="1920" kern="1200" cap="none" spc="0" normalizeH="0" baseline="0" noProof="0" dirty="0">
              <a:solidFill>
                <a:schemeClr val="tx1"/>
              </a:solidFill>
              <a:latin typeface="思源黑体 CN Regular"/>
              <a:ea typeface="思源黑体 CN Regular"/>
              <a:cs typeface="+mn-cs"/>
              <a:sym typeface="+mn-ea"/>
            </a:endParaRPr>
          </a:p>
        </p:txBody>
      </p:sp>
    </p:spTree>
  </p:cSld>
  <p:clrMapOvr>
    <a:masterClrMapping/>
  </p:clrMapOvr>
  <p:transition spd="slow" advClick="0" advTm="2000">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5087"/>
            <a:ext cx="12192000" cy="954088"/>
          </a:xfrm>
          <a:prstGeom prst="rect">
            <a:avLst/>
          </a:prstGeom>
          <a:solidFill>
            <a:srgbClr val="1941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7" name="TextBox 59"/>
          <p:cNvSpPr txBox="1">
            <a:spLocks noChangeArrowheads="1"/>
          </p:cNvSpPr>
          <p:nvPr/>
        </p:nvSpPr>
        <p:spPr bwMode="auto">
          <a:xfrm>
            <a:off x="400050" y="180975"/>
            <a:ext cx="2655888" cy="398780"/>
          </a:xfrm>
          <a:prstGeom prst="rect">
            <a:avLst/>
          </a:prstGeom>
          <a:noFill/>
          <a:ln>
            <a:noFill/>
          </a:ln>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lang="zh-CN" altLang="en-US" dirty="0">
                <a:solidFill>
                  <a:schemeClr val="bg1"/>
                </a:solidFill>
                <a:latin typeface="思源黑体 CN Regular"/>
                <a:ea typeface="思源黑体 CN Regular"/>
                <a:sym typeface="+mn-ea"/>
              </a:rPr>
              <a:t>课程设计总结</a:t>
            </a:r>
            <a:r>
              <a:rPr kumimoji="0" lang="en-US" altLang="zh-CN" sz="2000" b="0" i="0" u="none" strike="noStrike" kern="1200" cap="none" spc="30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mn-cs"/>
              </a:rPr>
              <a:t>  </a:t>
            </a:r>
            <a:r>
              <a:rPr kumimoji="0" lang="en-US" altLang="zh-CN" sz="2000" b="0" i="0" u="none" strike="noStrike" kern="1200" cap="none" spc="300" normalizeH="0" baseline="0" noProof="0" dirty="0">
                <a:ln>
                  <a:noFill/>
                </a:ln>
                <a:solidFill>
                  <a:schemeClr val="bg2"/>
                </a:solidFill>
                <a:effectLst/>
                <a:uLnTx/>
                <a:uFillTx/>
                <a:latin typeface="思源黑体 CN Regular" panose="020B0500000000000000" pitchFamily="34" charset="-122"/>
                <a:ea typeface="思源黑体 CN Regular" panose="020B0500000000000000" pitchFamily="34" charset="-122"/>
                <a:cs typeface="+mn-cs"/>
              </a:rPr>
              <a:t> </a:t>
            </a:r>
            <a:endParaRPr kumimoji="0" lang="zh-CN" altLang="en-US" sz="2000" b="0" i="0" u="none" strike="noStrike" kern="1200" cap="none" spc="300" normalizeH="0" baseline="0" noProof="0" dirty="0">
              <a:ln>
                <a:noFill/>
              </a:ln>
              <a:solidFill>
                <a:srgbClr val="802258"/>
              </a:solidFill>
              <a:effectLst/>
              <a:uLnTx/>
              <a:uFillTx/>
              <a:latin typeface="思源黑体 CN Regular" panose="020B0500000000000000" pitchFamily="34" charset="-122"/>
              <a:ea typeface="思源黑体 CN Regular" panose="020B0500000000000000" pitchFamily="34" charset="-122"/>
              <a:cs typeface="+mn-cs"/>
            </a:endParaRPr>
          </a:p>
        </p:txBody>
      </p:sp>
      <p:graphicFrame>
        <p:nvGraphicFramePr>
          <p:cNvPr id="31748" name="对象 15"/>
          <p:cNvGraphicFramePr>
            <a:graphicFrameLocks noChangeAspect="1"/>
          </p:cNvGraphicFramePr>
          <p:nvPr/>
        </p:nvGraphicFramePr>
        <p:xfrm>
          <a:off x="9564688" y="6113463"/>
          <a:ext cx="2368550" cy="623887"/>
        </p:xfrm>
        <a:graphic>
          <a:graphicData uri="http://schemas.openxmlformats.org/presentationml/2006/ole">
            <mc:AlternateContent xmlns:mc="http://schemas.openxmlformats.org/markup-compatibility/2006">
              <mc:Choice xmlns:v="urn:schemas-microsoft-com:vml" Requires="v">
                <p:oleObj r:id="rId3" imgW="5050790" imgH="1258570" progId="Word.Document.8">
                  <p:embed/>
                </p:oleObj>
              </mc:Choice>
              <mc:Fallback>
                <p:oleObj r:id="rId3" imgW="5050790" imgH="1258570" progId="Word.Document.8">
                  <p:embed/>
                  <p:pic>
                    <p:nvPicPr>
                      <p:cNvPr id="0" name="图片 3087"/>
                      <p:cNvPicPr/>
                      <p:nvPr/>
                    </p:nvPicPr>
                    <p:blipFill>
                      <a:blip r:embed="rId4"/>
                      <a:stretch>
                        <a:fillRect/>
                      </a:stretch>
                    </p:blipFill>
                    <p:spPr>
                      <a:xfrm>
                        <a:off x="9564688" y="6113463"/>
                        <a:ext cx="2368550" cy="623887"/>
                      </a:xfrm>
                      <a:prstGeom prst="rect">
                        <a:avLst/>
                      </a:prstGeom>
                      <a:noFill/>
                      <a:ln w="38100">
                        <a:noFill/>
                        <a:miter/>
                      </a:ln>
                    </p:spPr>
                  </p:pic>
                </p:oleObj>
              </mc:Fallback>
            </mc:AlternateContent>
          </a:graphicData>
        </a:graphic>
      </p:graphicFrame>
      <p:sp>
        <p:nvSpPr>
          <p:cNvPr id="100" name="文本框 99"/>
          <p:cNvSpPr txBox="1"/>
          <p:nvPr/>
        </p:nvSpPr>
        <p:spPr>
          <a:xfrm>
            <a:off x="258762" y="1188266"/>
            <a:ext cx="11682730" cy="5078313"/>
          </a:xfrm>
          <a:prstGeom prst="rect">
            <a:avLst/>
          </a:prstGeom>
          <a:noFill/>
          <a:ln w="9525">
            <a:noFill/>
          </a:ln>
        </p:spPr>
        <p:txBody>
          <a:bodyPr wrap="square">
            <a:spAutoFit/>
          </a:bodyPr>
          <a:lstStyle/>
          <a:p>
            <a:pPr fontAlgn="t"/>
            <a:r>
              <a:rPr lang="zh-CN" altLang="en-US" b="1" dirty="0"/>
              <a:t>技术实现与系统设计</a:t>
            </a:r>
            <a:br>
              <a:rPr lang="zh-CN" altLang="en-US" dirty="0"/>
            </a:br>
            <a:r>
              <a:rPr lang="zh-CN" altLang="en-US" dirty="0"/>
              <a:t>本设计采用邻接矩阵作为核心数据结构，构建了包含</a:t>
            </a:r>
            <a:r>
              <a:rPr lang="en-US" altLang="zh-CN" dirty="0"/>
              <a:t>11</a:t>
            </a:r>
            <a:r>
              <a:rPr lang="zh-CN" altLang="en-US" dirty="0"/>
              <a:t>个江西省城市节点的无向网模型，通过</a:t>
            </a:r>
            <a:r>
              <a:rPr lang="en-US" altLang="zh-CN" dirty="0" err="1"/>
              <a:t>AMGraph</a:t>
            </a:r>
            <a:r>
              <a:rPr lang="zh-CN" altLang="en-US" dirty="0"/>
              <a:t>结构体存储城市名称与道路距离。基于</a:t>
            </a:r>
            <a:r>
              <a:rPr lang="en-US" altLang="zh-CN" dirty="0"/>
              <a:t>Dijkstra</a:t>
            </a:r>
            <a:r>
              <a:rPr lang="zh-CN" altLang="en-US" dirty="0"/>
              <a:t>算法实现单源最短路径计算，算法复杂度优化为</a:t>
            </a:r>
            <a:r>
              <a:rPr lang="en-US" altLang="zh-CN" i="1" dirty="0"/>
              <a:t>O</a:t>
            </a:r>
            <a:r>
              <a:rPr lang="en-US" altLang="zh-CN" dirty="0"/>
              <a:t>(</a:t>
            </a:r>
            <a:r>
              <a:rPr lang="en-US" altLang="zh-CN" i="1" dirty="0"/>
              <a:t>n</a:t>
            </a:r>
            <a:r>
              <a:rPr lang="en-US" altLang="zh-CN" dirty="0"/>
              <a:t>2)</a:t>
            </a:r>
            <a:r>
              <a:rPr lang="zh-CN" altLang="en-US" dirty="0"/>
              <a:t>，并通过路径回溯技术生成可视化路径。模块化设计涵盖城市查找、邻接矩阵初始化、路径规划等核心功能，确保系统可扩展性与代码复用性。例如，</a:t>
            </a:r>
            <a:r>
              <a:rPr lang="en-US" altLang="zh-CN" dirty="0" err="1"/>
              <a:t>LocateVex</a:t>
            </a:r>
            <a:r>
              <a:rPr lang="zh-CN" altLang="en-US" dirty="0"/>
              <a:t>函数通过字符串匹配快速定位顶点索引，</a:t>
            </a:r>
            <a:r>
              <a:rPr lang="en-US" altLang="zh-CN" dirty="0" err="1"/>
              <a:t>AddEdge</a:t>
            </a:r>
            <a:r>
              <a:rPr lang="zh-CN" altLang="en-US" dirty="0"/>
              <a:t>函数实现双向边的权重更新，形成完整的图建模流程。</a:t>
            </a:r>
          </a:p>
          <a:p>
            <a:pPr fontAlgn="t"/>
            <a:r>
              <a:rPr lang="zh-CN" altLang="en-US" b="1" dirty="0"/>
              <a:t>功能验证与测试结果</a:t>
            </a:r>
            <a:br>
              <a:rPr lang="zh-CN" altLang="en-US" dirty="0"/>
            </a:br>
            <a:r>
              <a:rPr lang="zh-CN" altLang="en-US" dirty="0"/>
              <a:t>系统支持三大核心功能：两城市间最短路径查询（如输入“南昌市→赣州市”输出最短路径为“南昌市→吉安市→赣州市”，总距离</a:t>
            </a:r>
            <a:r>
              <a:rPr lang="en-US" altLang="zh-CN" dirty="0"/>
              <a:t>368</a:t>
            </a:r>
            <a:r>
              <a:rPr lang="zh-CN" altLang="en-US" dirty="0"/>
              <a:t>公里）、某城市到全域城市的最短距离统计（如南昌市到各城市的最短路径及距离列表），以及城市邻接矩阵的可视化输出。测试表明，系统对所有城市组合的路径查询均能正确响应，未连接城市会提示“无路径”。通过对比不同路径组合的计算结果（如九江市→景德镇→上饶市 </a:t>
            </a:r>
            <a:r>
              <a:rPr lang="en-US" altLang="zh-CN" dirty="0"/>
              <a:t>vs </a:t>
            </a:r>
            <a:r>
              <a:rPr lang="zh-CN" altLang="en-US" dirty="0"/>
              <a:t>九江市→宜春市→南昌市→上饶市），验证了</a:t>
            </a:r>
            <a:r>
              <a:rPr lang="en-US" altLang="zh-CN" dirty="0"/>
              <a:t>Dijkstra</a:t>
            </a:r>
            <a:r>
              <a:rPr lang="zh-CN" altLang="en-US" dirty="0"/>
              <a:t>算法的最优性与稳定性。</a:t>
            </a:r>
          </a:p>
          <a:p>
            <a:pPr fontAlgn="t"/>
            <a:r>
              <a:rPr lang="zh-CN" altLang="en-US" b="1" dirty="0"/>
              <a:t>实践意义与创新价值</a:t>
            </a:r>
            <a:br>
              <a:rPr lang="zh-CN" altLang="en-US" dirty="0"/>
            </a:br>
            <a:r>
              <a:rPr lang="zh-CN" altLang="en-US" dirty="0"/>
              <a:t>本设计不仅实现了导航系统的核心功能，还通过北斗导航场景模拟，体现了自主高精度定位技术在打破</a:t>
            </a:r>
            <a:r>
              <a:rPr lang="en-US" altLang="zh-CN" dirty="0"/>
              <a:t>GPS</a:t>
            </a:r>
            <a:r>
              <a:rPr lang="zh-CN" altLang="en-US" dirty="0"/>
              <a:t>垄断中的战略意义。项目过程中深入理解了图论在实际工程中的应用逻辑，如邻接矩阵的存储效率与</a:t>
            </a:r>
            <a:r>
              <a:rPr lang="en-US" altLang="zh-CN" dirty="0"/>
              <a:t>Dijkstra</a:t>
            </a:r>
            <a:r>
              <a:rPr lang="zh-CN" altLang="en-US" dirty="0"/>
              <a:t>算法的动态更新机制。同时，通过代码调试与路径规划测试，培养了问题分析与解决能力（如处理无穷大权重的边界条件）。最终成果为后续扩展（如实时交通动态调整、多目标优化路径）提供了技术基础，展现了理论知识转化为工程实践的完整闭环。</a:t>
            </a:r>
          </a:p>
        </p:txBody>
      </p:sp>
    </p:spTree>
  </p:cSld>
  <p:clrMapOvr>
    <a:masterClrMapping/>
  </p:clrMapOvr>
  <p:transition spd="slow" advClick="0" advTm="2000">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椭圆 7"/>
          <p:cNvSpPr/>
          <p:nvPr/>
        </p:nvSpPr>
        <p:spPr>
          <a:xfrm>
            <a:off x="6423025" y="-1296987"/>
            <a:ext cx="9451975" cy="9451975"/>
          </a:xfrm>
          <a:prstGeom prst="ellipse">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2"/>
              </a:solidFill>
              <a:effectLst/>
              <a:uLnTx/>
              <a:uFillTx/>
              <a:latin typeface="+mn-lt"/>
              <a:ea typeface="+mn-ea"/>
              <a:cs typeface="+mn-cs"/>
            </a:endParaRPr>
          </a:p>
        </p:txBody>
      </p:sp>
      <p:sp>
        <p:nvSpPr>
          <p:cNvPr id="9" name="椭圆 8"/>
          <p:cNvSpPr/>
          <p:nvPr/>
        </p:nvSpPr>
        <p:spPr>
          <a:xfrm>
            <a:off x="-884237" y="-877887"/>
            <a:ext cx="2181225" cy="2181225"/>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2"/>
              </a:solidFill>
              <a:effectLst/>
              <a:uLnTx/>
              <a:uFillTx/>
              <a:latin typeface="+mn-lt"/>
              <a:ea typeface="+mn-ea"/>
              <a:cs typeface="+mn-cs"/>
            </a:endParaRPr>
          </a:p>
        </p:txBody>
      </p:sp>
      <p:sp>
        <p:nvSpPr>
          <p:cNvPr id="17" name="文本框 16"/>
          <p:cNvSpPr txBox="1"/>
          <p:nvPr/>
        </p:nvSpPr>
        <p:spPr>
          <a:xfrm>
            <a:off x="554038" y="2225675"/>
            <a:ext cx="6127750" cy="1322388"/>
          </a:xfrm>
          <a:prstGeom prst="rect">
            <a:avLst/>
          </a:prstGeom>
          <a:noFill/>
        </p:spPr>
        <p:txBody>
          <a:bodyPr>
            <a:spAutoFit/>
          </a:bodyPr>
          <a:lstStyle/>
          <a:p>
            <a:pPr marR="0" defTabSz="914400" eaLnBrk="1" fontAlgn="auto" hangingPunct="1">
              <a:spcBef>
                <a:spcPts val="0"/>
              </a:spcBef>
              <a:spcAft>
                <a:spcPts val="600"/>
              </a:spcAft>
              <a:buClrTx/>
              <a:buSzTx/>
              <a:buFontTx/>
              <a:buNone/>
              <a:defRPr/>
            </a:pPr>
            <a:r>
              <a:rPr kumimoji="0" lang="zh-CN" altLang="en-US" sz="8000" b="1" kern="1200" cap="none" spc="300" normalizeH="0" baseline="0" noProof="0">
                <a:solidFill>
                  <a:schemeClr val="tx1"/>
                </a:solidFill>
                <a:latin typeface="思源黑体 CN Regular" panose="020B0500000000000000" pitchFamily="34" charset="-122"/>
                <a:ea typeface="思源黑体 CN Regular" panose="020B0500000000000000" pitchFamily="34" charset="-122"/>
                <a:cs typeface="+mn-cs"/>
              </a:rPr>
              <a:t>谢谢！</a:t>
            </a:r>
            <a:endParaRPr kumimoji="0" lang="zh-CN" altLang="en-US" sz="8000" b="1" kern="1200" cap="none" spc="300" normalizeH="0" baseline="0" noProof="0" dirty="0">
              <a:solidFill>
                <a:schemeClr val="tx1"/>
              </a:solidFill>
              <a:latin typeface="思源黑体 CN Regular" panose="020B0500000000000000" pitchFamily="34" charset="-122"/>
              <a:ea typeface="思源黑体 CN Regular" panose="020B0500000000000000" pitchFamily="34" charset="-122"/>
              <a:cs typeface="+mn-cs"/>
            </a:endParaRPr>
          </a:p>
        </p:txBody>
      </p:sp>
      <p:sp>
        <p:nvSpPr>
          <p:cNvPr id="18" name="TextBox 23"/>
          <p:cNvSpPr txBox="1">
            <a:spLocks noChangeArrowheads="1"/>
          </p:cNvSpPr>
          <p:nvPr/>
        </p:nvSpPr>
        <p:spPr bwMode="auto">
          <a:xfrm>
            <a:off x="582613" y="3533775"/>
            <a:ext cx="6342063" cy="460375"/>
          </a:xfrm>
          <a:prstGeom prst="rect">
            <a:avLst/>
          </a:prstGeom>
          <a:noFill/>
          <a:ln>
            <a:noFill/>
          </a:ln>
        </p:spPr>
        <p:txBody>
          <a:bodyPr anchor="ctr">
            <a:spAutoFit/>
          </a:bodyPr>
          <a:lstStyle>
            <a:lvl1pPr>
              <a:defRPr sz="1300">
                <a:solidFill>
                  <a:schemeClr val="tx1"/>
                </a:solidFill>
                <a:latin typeface="Nexa Light" pitchFamily="50" charset="0"/>
                <a:ea typeface="微软雅黑" panose="020B0503020204020204" pitchFamily="34" charset="-122"/>
              </a:defRPr>
            </a:lvl1pPr>
            <a:lvl2pPr marL="742950" indent="-285750">
              <a:defRPr sz="1300">
                <a:solidFill>
                  <a:schemeClr val="tx1"/>
                </a:solidFill>
                <a:latin typeface="Nexa Light" pitchFamily="50" charset="0"/>
                <a:ea typeface="微软雅黑" panose="020B0503020204020204" pitchFamily="34" charset="-122"/>
              </a:defRPr>
            </a:lvl2pPr>
            <a:lvl3pPr marL="1143000" indent="-228600">
              <a:defRPr sz="1300">
                <a:solidFill>
                  <a:schemeClr val="tx1"/>
                </a:solidFill>
                <a:latin typeface="Nexa Light" pitchFamily="50" charset="0"/>
                <a:ea typeface="微软雅黑" panose="020B0503020204020204" pitchFamily="34" charset="-122"/>
              </a:defRPr>
            </a:lvl3pPr>
            <a:lvl4pPr marL="1600200" indent="-228600">
              <a:defRPr sz="1300">
                <a:solidFill>
                  <a:schemeClr val="tx1"/>
                </a:solidFill>
                <a:latin typeface="Nexa Light" pitchFamily="50" charset="0"/>
                <a:ea typeface="微软雅黑" panose="020B0503020204020204" pitchFamily="34" charset="-122"/>
              </a:defRPr>
            </a:lvl4pPr>
            <a:lvl5pPr marL="2057400" indent="-228600">
              <a:defRPr sz="1300">
                <a:solidFill>
                  <a:schemeClr val="tx1"/>
                </a:solidFill>
                <a:latin typeface="Nexa Light" pitchFamily="50"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Nexa Light" pitchFamily="50"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Nexa Light" pitchFamily="50"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Nexa Light" pitchFamily="50"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Nexa Light" pitchFamily="50" charset="0"/>
                <a:ea typeface="微软雅黑" panose="020B0503020204020204" pitchFamily="34"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600" normalizeH="0" baseline="0" noProof="0">
                <a:ln>
                  <a:noFill/>
                </a:ln>
                <a:solidFill>
                  <a:schemeClr val="tx1"/>
                </a:solidFill>
                <a:effectLst/>
                <a:uLnTx/>
                <a:uFillTx/>
                <a:latin typeface="思源黑体 CN Regular" panose="020B0500000000000000" pitchFamily="34" charset="-122"/>
                <a:ea typeface="思源黑体 CN Regular" panose="020B0500000000000000" pitchFamily="34" charset="-122"/>
                <a:cs typeface="+mn-cs"/>
              </a:rPr>
              <a:t>THANK YOU!</a:t>
            </a:r>
            <a:endParaRPr kumimoji="0" lang="en-US" altLang="zh-CN" sz="2400" b="0" i="0" u="none" strike="noStrike" kern="1200" cap="none" spc="600" normalizeH="0" baseline="0" noProof="0" dirty="0">
              <a:ln>
                <a:noFill/>
              </a:ln>
              <a:solidFill>
                <a:schemeClr val="tx1"/>
              </a:solidFill>
              <a:effectLst/>
              <a:uLnTx/>
              <a:uFillTx/>
              <a:latin typeface="思源黑体 CN Regular" panose="020B0500000000000000" pitchFamily="34" charset="-122"/>
              <a:ea typeface="思源黑体 CN Regular" panose="020B0500000000000000" pitchFamily="34" charset="-122"/>
              <a:cs typeface="+mn-cs"/>
            </a:endParaRPr>
          </a:p>
        </p:txBody>
      </p:sp>
      <p:cxnSp>
        <p:nvCxnSpPr>
          <p:cNvPr id="19" name="直接连接符 18"/>
          <p:cNvCxnSpPr/>
          <p:nvPr/>
        </p:nvCxnSpPr>
        <p:spPr>
          <a:xfrm>
            <a:off x="679450" y="4144963"/>
            <a:ext cx="2408238" cy="0"/>
          </a:xfrm>
          <a:prstGeom prst="line">
            <a:avLst/>
          </a:prstGeom>
        </p:spPr>
        <p:style>
          <a:lnRef idx="1">
            <a:schemeClr val="dk1"/>
          </a:lnRef>
          <a:fillRef idx="0">
            <a:schemeClr val="dk1"/>
          </a:fillRef>
          <a:effectRef idx="0">
            <a:schemeClr val="dk1"/>
          </a:effectRef>
          <a:fontRef idx="minor">
            <a:schemeClr val="tx1"/>
          </a:fontRef>
        </p:style>
      </p:cxnSp>
      <p:sp>
        <p:nvSpPr>
          <p:cNvPr id="20" name="椭圆 19"/>
          <p:cNvSpPr/>
          <p:nvPr/>
        </p:nvSpPr>
        <p:spPr>
          <a:xfrm>
            <a:off x="-884237" y="5541963"/>
            <a:ext cx="2181225" cy="2181225"/>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2"/>
              </a:solidFill>
              <a:effectLst/>
              <a:uLnTx/>
              <a:uFillTx/>
              <a:latin typeface="+mn-lt"/>
              <a:ea typeface="+mn-ea"/>
              <a:cs typeface="+mn-cs"/>
            </a:endParaRPr>
          </a:p>
        </p:txBody>
      </p:sp>
      <p:pic>
        <p:nvPicPr>
          <p:cNvPr id="11" name="图片 10" descr="实验楼"/>
          <p:cNvPicPr>
            <a:picLocks noChangeAspect="1"/>
          </p:cNvPicPr>
          <p:nvPr/>
        </p:nvPicPr>
        <p:blipFill>
          <a:blip r:embed="rId2"/>
          <a:srcRect l="730" t="1545" r="2084" b="1850"/>
          <a:stretch>
            <a:fillRect/>
          </a:stretch>
        </p:blipFill>
        <p:spPr>
          <a:xfrm>
            <a:off x="6743700" y="-746125"/>
            <a:ext cx="8202930" cy="8258174"/>
          </a:xfrm>
          <a:prstGeom prst="ellipse">
            <a:avLst/>
          </a:prstGeom>
        </p:spPr>
      </p:pic>
    </p:spTree>
  </p:cSld>
  <p:clrMapOvr>
    <a:masterClrMapping/>
  </p:clrMapOvr>
  <p:transition spd="slow" advClick="0" advTm="2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500"/>
                                        <p:tgtEl>
                                          <p:spTgt spid="1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WI1ODJmMWE4OTI0MzhlMTRiZjkzOTcxMDQyMDUxMjU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69.97496062992127,&quot;left&quot;:366.12503937007875,&quot;top&quot;:228.67503937007874,&quot;width&quot;:267.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69.97496062992127,&quot;left&quot;:366.12503937007875,&quot;top&quot;:228.67503937007874,&quot;width&quot;:267.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69.97496062992127,&quot;left&quot;:366.12503937007875,&quot;top&quot;:228.67503937007874,&quot;width&quot;:267.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69.97496062992127,&quot;left&quot;:366.12503937007875,&quot;top&quot;:228.67503937007874,&quot;width&quot;:267.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69.97496062992127,&quot;left&quot;:366.12503937007875,&quot;top&quot;:228.67503937007874,&quot;width&quot;:267.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69.97496062992127,&quot;left&quot;:366.12503937007875,&quot;top&quot;:228.67503937007874,&quot;width&quot;:267.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69.97496062992127,&quot;left&quot;:366.12503937007875,&quot;top&quot;:228.67503937007874,&quot;width&quot;:267.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169.97496062992127,&quot;left&quot;:366.12503937007875,&quot;top&quot;:228.67503937007874,&quot;width&quot;:267.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169.97496062992127,&quot;left&quot;:366.12503937007875,&quot;top&quot;:228.67503937007874,&quot;width&quot;:267.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193.05,&quot;left&quot;:518.9110236220472,&quot;top&quot;:246.65,&quot;width&quot;:289.388976377952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193.05,&quot;left&quot;:518.9110236220472,&quot;top&quot;:246.65,&quot;width&quot;:289.388976377952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193.05,&quot;left&quot;:518.9110236220472,&quot;top&quot;:246.65,&quot;width&quot;:289.3889763779528}"/>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193.05,&quot;left&quot;:518.9110236220472,&quot;top&quot;:246.65,&quot;width&quot;:289.388976377952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193.05,&quot;left&quot;:518.9110236220472,&quot;top&quot;:246.65,&quot;width&quot;:289.388976377952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193.05,&quot;left&quot;:518.9110236220472,&quot;top&quot;:246.65,&quot;width&quot;:289.388976377952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193.05,&quot;left&quot;:518.9110236220472,&quot;top&quot;:246.65,&quot;width&quot;:289.388976377952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193.05,&quot;left&quot;:518.9110236220472,&quot;top&quot;:246.65,&quot;width&quot;:289.388976377952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1981</Words>
  <Application>Microsoft Office PowerPoint</Application>
  <PresentationFormat>宽屏</PresentationFormat>
  <Paragraphs>226</Paragraphs>
  <Slides>15</Slides>
  <Notes>8</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15</vt:i4>
      </vt:variant>
    </vt:vector>
  </HeadingPairs>
  <TitlesOfParts>
    <vt:vector size="26" baseType="lpstr">
      <vt:lpstr>-apple-system</vt:lpstr>
      <vt:lpstr>ui-monospace</vt:lpstr>
      <vt:lpstr>等线</vt:lpstr>
      <vt:lpstr>思源黑体 CN Light</vt:lpstr>
      <vt:lpstr>思源黑体 CN Regular</vt:lpstr>
      <vt:lpstr>宋体</vt:lpstr>
      <vt:lpstr>微软雅黑</vt:lpstr>
      <vt:lpstr>Arial</vt:lpstr>
      <vt:lpstr>Calibri</vt:lpstr>
      <vt:lpstr>Office 主题</vt:lpstr>
      <vt:lpstr>Microsoft Word 97 - 2003 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不完美主义者.</dc:creator>
  <cp:lastModifiedBy>博扬 王</cp:lastModifiedBy>
  <cp:revision>13</cp:revision>
  <dcterms:created xsi:type="dcterms:W3CDTF">2023-06-21T01:59:00Z</dcterms:created>
  <dcterms:modified xsi:type="dcterms:W3CDTF">2025-11-23T02:46:16Z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229B7CEF8A594C8CB92857FF910380FA_12</vt:lpwstr>
  </property>
  <property fmtid="{D5CDD505-2E9C-101B-9397-08002B2CF9AE}" pid="3" name="KSOProductBuildVer">
    <vt:lpwstr>2052-12.1.0.18912</vt:lpwstr>
  </property>
</Properties>
</file>